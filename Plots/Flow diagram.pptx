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363124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84442" autoAdjust="0"/>
  </p:normalViewPr>
  <p:slideViewPr>
    <p:cSldViewPr snapToGrid="0">
      <p:cViewPr>
        <p:scale>
          <a:sx n="25" d="100"/>
          <a:sy n="25" d="100"/>
        </p:scale>
        <p:origin x="77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C900F-6692-4F4D-92AC-89375F651F64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73250" y="1143000"/>
            <a:ext cx="3111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F36C5-F1E0-4D9F-9D02-A2D1BF011B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28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1pPr>
    <a:lvl2pPr marL="1735485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2pPr>
    <a:lvl3pPr marL="3470971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3pPr>
    <a:lvl4pPr marL="5206456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4pPr>
    <a:lvl5pPr marL="6941942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5pPr>
    <a:lvl6pPr marL="8677427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6pPr>
    <a:lvl7pPr marL="10412913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7pPr>
    <a:lvl8pPr marL="12148398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8pPr>
    <a:lvl9pPr marL="13883884" algn="l" defTabSz="3470971" rtl="0" eaLnBrk="1" latinLnBrk="0" hangingPunct="1">
      <a:defRPr sz="45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73250" y="1143000"/>
            <a:ext cx="3111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Hard line = link</a:t>
            </a:r>
          </a:p>
          <a:p>
            <a:r>
              <a:rPr lang="en-AU" dirty="0"/>
              <a:t>Dashed line = operations of functions</a:t>
            </a:r>
          </a:p>
          <a:p>
            <a:r>
              <a:rPr lang="en-AU" dirty="0"/>
              <a:t>Dotted line = multiple pathways</a:t>
            </a:r>
          </a:p>
          <a:p>
            <a:r>
              <a:rPr lang="en-AU" dirty="0"/>
              <a:t>Red = function</a:t>
            </a:r>
          </a:p>
          <a:p>
            <a:r>
              <a:rPr lang="en-AU" dirty="0"/>
              <a:t>Green = outcome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36C5-F1E0-4D9F-9D02-A2D1BF011B6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70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3436" y="5891626"/>
            <a:ext cx="30865604" cy="12533242"/>
          </a:xfrm>
        </p:spPr>
        <p:txBody>
          <a:bodyPr anchor="b"/>
          <a:lstStyle>
            <a:lvl1pPr algn="ctr">
              <a:defRPr sz="23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060" y="18908198"/>
            <a:ext cx="27234356" cy="8691601"/>
          </a:xfrm>
        </p:spPr>
        <p:txBody>
          <a:bodyPr/>
          <a:lstStyle>
            <a:lvl1pPr marL="0" indent="0" algn="ctr">
              <a:buNone/>
              <a:defRPr sz="9531"/>
            </a:lvl1pPr>
            <a:lvl2pPr marL="1815633" indent="0" algn="ctr">
              <a:buNone/>
              <a:defRPr sz="7942"/>
            </a:lvl2pPr>
            <a:lvl3pPr marL="3631265" indent="0" algn="ctr">
              <a:buNone/>
              <a:defRPr sz="7148"/>
            </a:lvl3pPr>
            <a:lvl4pPr marL="5446898" indent="0" algn="ctr">
              <a:buNone/>
              <a:defRPr sz="6354"/>
            </a:lvl4pPr>
            <a:lvl5pPr marL="7262531" indent="0" algn="ctr">
              <a:buNone/>
              <a:defRPr sz="6354"/>
            </a:lvl5pPr>
            <a:lvl6pPr marL="9078163" indent="0" algn="ctr">
              <a:buNone/>
              <a:defRPr sz="6354"/>
            </a:lvl6pPr>
            <a:lvl7pPr marL="10893796" indent="0" algn="ctr">
              <a:buNone/>
              <a:defRPr sz="6354"/>
            </a:lvl7pPr>
            <a:lvl8pPr marL="12709428" indent="0" algn="ctr">
              <a:buNone/>
              <a:defRPr sz="6354"/>
            </a:lvl8pPr>
            <a:lvl9pPr marL="14525061" indent="0" algn="ctr">
              <a:buNone/>
              <a:defRPr sz="635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716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13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7572" y="8974945"/>
            <a:ext cx="31319510" cy="14974888"/>
          </a:xfrm>
        </p:spPr>
        <p:txBody>
          <a:bodyPr anchor="b"/>
          <a:lstStyle>
            <a:lvl1pPr>
              <a:defRPr sz="23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7572" y="24091502"/>
            <a:ext cx="31319510" cy="7874940"/>
          </a:xfrm>
        </p:spPr>
        <p:txBody>
          <a:bodyPr/>
          <a:lstStyle>
            <a:lvl1pPr marL="0" indent="0">
              <a:buNone/>
              <a:defRPr sz="9531">
                <a:solidFill>
                  <a:schemeClr val="tx1">
                    <a:tint val="82000"/>
                  </a:schemeClr>
                </a:solidFill>
              </a:defRPr>
            </a:lvl1pPr>
            <a:lvl2pPr marL="1815633" indent="0">
              <a:buNone/>
              <a:defRPr sz="7942">
                <a:solidFill>
                  <a:schemeClr val="tx1">
                    <a:tint val="82000"/>
                  </a:schemeClr>
                </a:solidFill>
              </a:defRPr>
            </a:lvl2pPr>
            <a:lvl3pPr marL="3631265" indent="0">
              <a:buNone/>
              <a:defRPr sz="7148">
                <a:solidFill>
                  <a:schemeClr val="tx1">
                    <a:tint val="82000"/>
                  </a:schemeClr>
                </a:solidFill>
              </a:defRPr>
            </a:lvl3pPr>
            <a:lvl4pPr marL="5446898" indent="0">
              <a:buNone/>
              <a:defRPr sz="6354">
                <a:solidFill>
                  <a:schemeClr val="tx1">
                    <a:tint val="82000"/>
                  </a:schemeClr>
                </a:solidFill>
              </a:defRPr>
            </a:lvl4pPr>
            <a:lvl5pPr marL="7262531" indent="0">
              <a:buNone/>
              <a:defRPr sz="6354">
                <a:solidFill>
                  <a:schemeClr val="tx1">
                    <a:tint val="82000"/>
                  </a:schemeClr>
                </a:solidFill>
              </a:defRPr>
            </a:lvl5pPr>
            <a:lvl6pPr marL="9078163" indent="0">
              <a:buNone/>
              <a:defRPr sz="6354">
                <a:solidFill>
                  <a:schemeClr val="tx1">
                    <a:tint val="82000"/>
                  </a:schemeClr>
                </a:solidFill>
              </a:defRPr>
            </a:lvl6pPr>
            <a:lvl7pPr marL="10893796" indent="0">
              <a:buNone/>
              <a:defRPr sz="6354">
                <a:solidFill>
                  <a:schemeClr val="tx1">
                    <a:tint val="82000"/>
                  </a:schemeClr>
                </a:solidFill>
              </a:defRPr>
            </a:lvl7pPr>
            <a:lvl8pPr marL="12709428" indent="0">
              <a:buNone/>
              <a:defRPr sz="6354">
                <a:solidFill>
                  <a:schemeClr val="tx1">
                    <a:tint val="82000"/>
                  </a:schemeClr>
                </a:solidFill>
              </a:defRPr>
            </a:lvl8pPr>
            <a:lvl9pPr marL="14525061" indent="0">
              <a:buNone/>
              <a:defRPr sz="63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16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96483" y="9583264"/>
            <a:ext cx="15432802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83190" y="9583264"/>
            <a:ext cx="15432802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62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1212" y="1916661"/>
            <a:ext cx="31319510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1216" y="8824938"/>
            <a:ext cx="15361877" cy="4324966"/>
          </a:xfrm>
        </p:spPr>
        <p:txBody>
          <a:bodyPr anchor="b"/>
          <a:lstStyle>
            <a:lvl1pPr marL="0" indent="0">
              <a:buNone/>
              <a:defRPr sz="9531" b="1"/>
            </a:lvl1pPr>
            <a:lvl2pPr marL="1815633" indent="0">
              <a:buNone/>
              <a:defRPr sz="7942" b="1"/>
            </a:lvl2pPr>
            <a:lvl3pPr marL="3631265" indent="0">
              <a:buNone/>
              <a:defRPr sz="7148" b="1"/>
            </a:lvl3pPr>
            <a:lvl4pPr marL="5446898" indent="0">
              <a:buNone/>
              <a:defRPr sz="6354" b="1"/>
            </a:lvl4pPr>
            <a:lvl5pPr marL="7262531" indent="0">
              <a:buNone/>
              <a:defRPr sz="6354" b="1"/>
            </a:lvl5pPr>
            <a:lvl6pPr marL="9078163" indent="0">
              <a:buNone/>
              <a:defRPr sz="6354" b="1"/>
            </a:lvl6pPr>
            <a:lvl7pPr marL="10893796" indent="0">
              <a:buNone/>
              <a:defRPr sz="6354" b="1"/>
            </a:lvl7pPr>
            <a:lvl8pPr marL="12709428" indent="0">
              <a:buNone/>
              <a:defRPr sz="6354" b="1"/>
            </a:lvl8pPr>
            <a:lvl9pPr marL="14525061" indent="0">
              <a:buNone/>
              <a:defRPr sz="63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01216" y="13149904"/>
            <a:ext cx="15361877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383192" y="8824938"/>
            <a:ext cx="15437532" cy="4324966"/>
          </a:xfrm>
        </p:spPr>
        <p:txBody>
          <a:bodyPr anchor="b"/>
          <a:lstStyle>
            <a:lvl1pPr marL="0" indent="0">
              <a:buNone/>
              <a:defRPr sz="9531" b="1"/>
            </a:lvl1pPr>
            <a:lvl2pPr marL="1815633" indent="0">
              <a:buNone/>
              <a:defRPr sz="7942" b="1"/>
            </a:lvl2pPr>
            <a:lvl3pPr marL="3631265" indent="0">
              <a:buNone/>
              <a:defRPr sz="7148" b="1"/>
            </a:lvl3pPr>
            <a:lvl4pPr marL="5446898" indent="0">
              <a:buNone/>
              <a:defRPr sz="6354" b="1"/>
            </a:lvl4pPr>
            <a:lvl5pPr marL="7262531" indent="0">
              <a:buNone/>
              <a:defRPr sz="6354" b="1"/>
            </a:lvl5pPr>
            <a:lvl6pPr marL="9078163" indent="0">
              <a:buNone/>
              <a:defRPr sz="6354" b="1"/>
            </a:lvl6pPr>
            <a:lvl7pPr marL="10893796" indent="0">
              <a:buNone/>
              <a:defRPr sz="6354" b="1"/>
            </a:lvl7pPr>
            <a:lvl8pPr marL="12709428" indent="0">
              <a:buNone/>
              <a:defRPr sz="6354" b="1"/>
            </a:lvl8pPr>
            <a:lvl9pPr marL="14525061" indent="0">
              <a:buNone/>
              <a:defRPr sz="635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383192" y="13149904"/>
            <a:ext cx="1543753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5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6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145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1212" y="2399982"/>
            <a:ext cx="11711718" cy="8399939"/>
          </a:xfrm>
        </p:spPr>
        <p:txBody>
          <a:bodyPr anchor="b"/>
          <a:lstStyle>
            <a:lvl1pPr>
              <a:defRPr sz="127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532" y="5183304"/>
            <a:ext cx="18383190" cy="25583147"/>
          </a:xfrm>
        </p:spPr>
        <p:txBody>
          <a:bodyPr/>
          <a:lstStyle>
            <a:lvl1pPr>
              <a:defRPr sz="12708"/>
            </a:lvl1pPr>
            <a:lvl2pPr>
              <a:defRPr sz="11119"/>
            </a:lvl2pPr>
            <a:lvl3pPr>
              <a:defRPr sz="9531"/>
            </a:lvl3pPr>
            <a:lvl4pPr>
              <a:defRPr sz="7942"/>
            </a:lvl4pPr>
            <a:lvl5pPr>
              <a:defRPr sz="7942"/>
            </a:lvl5pPr>
            <a:lvl6pPr>
              <a:defRPr sz="7942"/>
            </a:lvl6pPr>
            <a:lvl7pPr>
              <a:defRPr sz="7942"/>
            </a:lvl7pPr>
            <a:lvl8pPr>
              <a:defRPr sz="7942"/>
            </a:lvl8pPr>
            <a:lvl9pPr>
              <a:defRPr sz="794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1212" y="10799922"/>
            <a:ext cx="11711718" cy="20008190"/>
          </a:xfrm>
        </p:spPr>
        <p:txBody>
          <a:bodyPr/>
          <a:lstStyle>
            <a:lvl1pPr marL="0" indent="0">
              <a:buNone/>
              <a:defRPr sz="6354"/>
            </a:lvl1pPr>
            <a:lvl2pPr marL="1815633" indent="0">
              <a:buNone/>
              <a:defRPr sz="5560"/>
            </a:lvl2pPr>
            <a:lvl3pPr marL="3631265" indent="0">
              <a:buNone/>
              <a:defRPr sz="4765"/>
            </a:lvl3pPr>
            <a:lvl4pPr marL="5446898" indent="0">
              <a:buNone/>
              <a:defRPr sz="3971"/>
            </a:lvl4pPr>
            <a:lvl5pPr marL="7262531" indent="0">
              <a:buNone/>
              <a:defRPr sz="3971"/>
            </a:lvl5pPr>
            <a:lvl6pPr marL="9078163" indent="0">
              <a:buNone/>
              <a:defRPr sz="3971"/>
            </a:lvl6pPr>
            <a:lvl7pPr marL="10893796" indent="0">
              <a:buNone/>
              <a:defRPr sz="3971"/>
            </a:lvl7pPr>
            <a:lvl8pPr marL="12709428" indent="0">
              <a:buNone/>
              <a:defRPr sz="3971"/>
            </a:lvl8pPr>
            <a:lvl9pPr marL="14525061" indent="0">
              <a:buNone/>
              <a:defRPr sz="397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472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1212" y="2399982"/>
            <a:ext cx="11711718" cy="8399939"/>
          </a:xfrm>
        </p:spPr>
        <p:txBody>
          <a:bodyPr anchor="b"/>
          <a:lstStyle>
            <a:lvl1pPr>
              <a:defRPr sz="127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437532" y="5183304"/>
            <a:ext cx="18383190" cy="25583147"/>
          </a:xfrm>
        </p:spPr>
        <p:txBody>
          <a:bodyPr anchor="t"/>
          <a:lstStyle>
            <a:lvl1pPr marL="0" indent="0">
              <a:buNone/>
              <a:defRPr sz="12708"/>
            </a:lvl1pPr>
            <a:lvl2pPr marL="1815633" indent="0">
              <a:buNone/>
              <a:defRPr sz="11119"/>
            </a:lvl2pPr>
            <a:lvl3pPr marL="3631265" indent="0">
              <a:buNone/>
              <a:defRPr sz="9531"/>
            </a:lvl3pPr>
            <a:lvl4pPr marL="5446898" indent="0">
              <a:buNone/>
              <a:defRPr sz="7942"/>
            </a:lvl4pPr>
            <a:lvl5pPr marL="7262531" indent="0">
              <a:buNone/>
              <a:defRPr sz="7942"/>
            </a:lvl5pPr>
            <a:lvl6pPr marL="9078163" indent="0">
              <a:buNone/>
              <a:defRPr sz="7942"/>
            </a:lvl6pPr>
            <a:lvl7pPr marL="10893796" indent="0">
              <a:buNone/>
              <a:defRPr sz="7942"/>
            </a:lvl7pPr>
            <a:lvl8pPr marL="12709428" indent="0">
              <a:buNone/>
              <a:defRPr sz="7942"/>
            </a:lvl8pPr>
            <a:lvl9pPr marL="14525061" indent="0">
              <a:buNone/>
              <a:defRPr sz="794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1212" y="10799922"/>
            <a:ext cx="11711718" cy="20008190"/>
          </a:xfrm>
        </p:spPr>
        <p:txBody>
          <a:bodyPr/>
          <a:lstStyle>
            <a:lvl1pPr marL="0" indent="0">
              <a:buNone/>
              <a:defRPr sz="6354"/>
            </a:lvl1pPr>
            <a:lvl2pPr marL="1815633" indent="0">
              <a:buNone/>
              <a:defRPr sz="5560"/>
            </a:lvl2pPr>
            <a:lvl3pPr marL="3631265" indent="0">
              <a:buNone/>
              <a:defRPr sz="4765"/>
            </a:lvl3pPr>
            <a:lvl4pPr marL="5446898" indent="0">
              <a:buNone/>
              <a:defRPr sz="3971"/>
            </a:lvl4pPr>
            <a:lvl5pPr marL="7262531" indent="0">
              <a:buNone/>
              <a:defRPr sz="3971"/>
            </a:lvl5pPr>
            <a:lvl6pPr marL="9078163" indent="0">
              <a:buNone/>
              <a:defRPr sz="3971"/>
            </a:lvl6pPr>
            <a:lvl7pPr marL="10893796" indent="0">
              <a:buNone/>
              <a:defRPr sz="3971"/>
            </a:lvl7pPr>
            <a:lvl8pPr marL="12709428" indent="0">
              <a:buNone/>
              <a:defRPr sz="3971"/>
            </a:lvl8pPr>
            <a:lvl9pPr marL="14525061" indent="0">
              <a:buNone/>
              <a:defRPr sz="397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968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61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986117" y="1916653"/>
            <a:ext cx="7829877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96485" y="1916653"/>
            <a:ext cx="23035726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570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96483" y="1916661"/>
            <a:ext cx="31319510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6483" y="9583264"/>
            <a:ext cx="31319510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96483" y="33366432"/>
            <a:ext cx="8170307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B1910-80F9-4E25-8D4C-FCDFDBA62407}" type="datetimeFigureOut">
              <a:rPr lang="en-AU" smtClean="0"/>
              <a:t>29/10/2025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28508" y="33366432"/>
            <a:ext cx="1225546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645685" y="33366432"/>
            <a:ext cx="8170307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F2CC1-4138-49CF-8217-8D5197ACF2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080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31265" rtl="0" eaLnBrk="1" latinLnBrk="0" hangingPunct="1">
        <a:lnSpc>
          <a:spcPct val="90000"/>
        </a:lnSpc>
        <a:spcBef>
          <a:spcPct val="0"/>
        </a:spcBef>
        <a:buNone/>
        <a:defRPr sz="17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7816" indent="-907816" algn="l" defTabSz="3631265" rtl="0" eaLnBrk="1" latinLnBrk="0" hangingPunct="1">
        <a:lnSpc>
          <a:spcPct val="90000"/>
        </a:lnSpc>
        <a:spcBef>
          <a:spcPts val="3971"/>
        </a:spcBef>
        <a:buFont typeface="Arial" panose="020B0604020202020204" pitchFamily="34" charset="0"/>
        <a:buChar char="•"/>
        <a:defRPr sz="11119" kern="1200">
          <a:solidFill>
            <a:schemeClr val="tx1"/>
          </a:solidFill>
          <a:latin typeface="+mn-lt"/>
          <a:ea typeface="+mn-ea"/>
          <a:cs typeface="+mn-cs"/>
        </a:defRPr>
      </a:lvl1pPr>
      <a:lvl2pPr marL="2723449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9531" kern="1200">
          <a:solidFill>
            <a:schemeClr val="tx1"/>
          </a:solidFill>
          <a:latin typeface="+mn-lt"/>
          <a:ea typeface="+mn-ea"/>
          <a:cs typeface="+mn-cs"/>
        </a:defRPr>
      </a:lvl2pPr>
      <a:lvl3pPr marL="4539082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942" kern="1200">
          <a:solidFill>
            <a:schemeClr val="tx1"/>
          </a:solidFill>
          <a:latin typeface="+mn-lt"/>
          <a:ea typeface="+mn-ea"/>
          <a:cs typeface="+mn-cs"/>
        </a:defRPr>
      </a:lvl3pPr>
      <a:lvl4pPr marL="6354714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148" kern="1200">
          <a:solidFill>
            <a:schemeClr val="tx1"/>
          </a:solidFill>
          <a:latin typeface="+mn-lt"/>
          <a:ea typeface="+mn-ea"/>
          <a:cs typeface="+mn-cs"/>
        </a:defRPr>
      </a:lvl4pPr>
      <a:lvl5pPr marL="8170347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148" kern="1200">
          <a:solidFill>
            <a:schemeClr val="tx1"/>
          </a:solidFill>
          <a:latin typeface="+mn-lt"/>
          <a:ea typeface="+mn-ea"/>
          <a:cs typeface="+mn-cs"/>
        </a:defRPr>
      </a:lvl5pPr>
      <a:lvl6pPr marL="9985980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148" kern="1200">
          <a:solidFill>
            <a:schemeClr val="tx1"/>
          </a:solidFill>
          <a:latin typeface="+mn-lt"/>
          <a:ea typeface="+mn-ea"/>
          <a:cs typeface="+mn-cs"/>
        </a:defRPr>
      </a:lvl6pPr>
      <a:lvl7pPr marL="11801612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148" kern="1200">
          <a:solidFill>
            <a:schemeClr val="tx1"/>
          </a:solidFill>
          <a:latin typeface="+mn-lt"/>
          <a:ea typeface="+mn-ea"/>
          <a:cs typeface="+mn-cs"/>
        </a:defRPr>
      </a:lvl7pPr>
      <a:lvl8pPr marL="13617245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148" kern="1200">
          <a:solidFill>
            <a:schemeClr val="tx1"/>
          </a:solidFill>
          <a:latin typeface="+mn-lt"/>
          <a:ea typeface="+mn-ea"/>
          <a:cs typeface="+mn-cs"/>
        </a:defRPr>
      </a:lvl8pPr>
      <a:lvl9pPr marL="15432877" indent="-907816" algn="l" defTabSz="3631265" rtl="0" eaLnBrk="1" latinLnBrk="0" hangingPunct="1">
        <a:lnSpc>
          <a:spcPct val="90000"/>
        </a:lnSpc>
        <a:spcBef>
          <a:spcPts val="1986"/>
        </a:spcBef>
        <a:buFont typeface="Arial" panose="020B0604020202020204" pitchFamily="34" charset="0"/>
        <a:buChar char="•"/>
        <a:defRPr sz="71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1pPr>
      <a:lvl2pPr marL="1815633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2pPr>
      <a:lvl3pPr marL="3631265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3pPr>
      <a:lvl4pPr marL="5446898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4pPr>
      <a:lvl5pPr marL="7262531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5pPr>
      <a:lvl6pPr marL="9078163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6pPr>
      <a:lvl7pPr marL="10893796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7pPr>
      <a:lvl8pPr marL="12709428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8pPr>
      <a:lvl9pPr marL="14525061" algn="l" defTabSz="3631265" rtl="0" eaLnBrk="1" latinLnBrk="0" hangingPunct="1">
        <a:defRPr sz="7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Connector: Curved 254">
            <a:extLst>
              <a:ext uri="{FF2B5EF4-FFF2-40B4-BE49-F238E27FC236}">
                <a16:creationId xmlns:a16="http://schemas.microsoft.com/office/drawing/2014/main" id="{B5EBF97E-50B4-8CCC-A885-D9871FA237F2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>
            <a:off x="16574658" y="7764483"/>
            <a:ext cx="640457" cy="21562073"/>
          </a:xfrm>
          <a:prstGeom prst="curvedConnector3">
            <a:avLst>
              <a:gd name="adj1" fmla="val 2186866"/>
            </a:avLst>
          </a:prstGeom>
          <a:ln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148AFF0-21F9-D55E-5C4B-33DAE6280502}"/>
              </a:ext>
            </a:extLst>
          </p:cNvPr>
          <p:cNvSpPr txBox="1"/>
          <p:nvPr/>
        </p:nvSpPr>
        <p:spPr>
          <a:xfrm>
            <a:off x="16574655" y="7579814"/>
            <a:ext cx="3038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Starting population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8CCBA-F6DA-3F6E-5B76-6D70495EC86B}"/>
              </a:ext>
            </a:extLst>
          </p:cNvPr>
          <p:cNvSpPr txBox="1"/>
          <p:nvPr/>
        </p:nvSpPr>
        <p:spPr>
          <a:xfrm>
            <a:off x="17215112" y="29141887"/>
            <a:ext cx="234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End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9E9AE-CAD9-B1AA-CB8C-D922F05F0B9D}"/>
              </a:ext>
            </a:extLst>
          </p:cNvPr>
          <p:cNvSpPr txBox="1"/>
          <p:nvPr/>
        </p:nvSpPr>
        <p:spPr>
          <a:xfrm>
            <a:off x="11779634" y="14528335"/>
            <a:ext cx="234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Dead individual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1426A-7D2C-6974-915D-461892DBB4E2}"/>
              </a:ext>
            </a:extLst>
          </p:cNvPr>
          <p:cNvSpPr txBox="1"/>
          <p:nvPr/>
        </p:nvSpPr>
        <p:spPr>
          <a:xfrm>
            <a:off x="16342410" y="9186595"/>
            <a:ext cx="35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Disturbance – </a:t>
            </a:r>
            <a:r>
              <a:rPr lang="en-AU" dirty="0" err="1">
                <a:solidFill>
                  <a:srgbClr val="C00000"/>
                </a:solidFill>
              </a:rPr>
              <a:t>disturbance_event_chance.R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663EB-62D7-D3EA-8304-10FC49426945}"/>
              </a:ext>
            </a:extLst>
          </p:cNvPr>
          <p:cNvSpPr txBox="1"/>
          <p:nvPr/>
        </p:nvSpPr>
        <p:spPr>
          <a:xfrm>
            <a:off x="22130300" y="14806420"/>
            <a:ext cx="333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Recruited individual list - </a:t>
            </a:r>
          </a:p>
          <a:p>
            <a:pPr algn="ctr"/>
            <a:r>
              <a:rPr lang="en-AU" dirty="0">
                <a:solidFill>
                  <a:srgbClr val="C00000"/>
                </a:solidFill>
              </a:rPr>
              <a:t>recruitment_functions_3.R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21D0A-8FA9-5029-9525-D35D3EB924E0}"/>
              </a:ext>
            </a:extLst>
          </p:cNvPr>
          <p:cNvSpPr txBox="1"/>
          <p:nvPr/>
        </p:nvSpPr>
        <p:spPr>
          <a:xfrm>
            <a:off x="17211519" y="27509787"/>
            <a:ext cx="234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Combine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2C007E-DE94-8E93-74C4-5495C0A3FF68}"/>
              </a:ext>
            </a:extLst>
          </p:cNvPr>
          <p:cNvSpPr txBox="1"/>
          <p:nvPr/>
        </p:nvSpPr>
        <p:spPr>
          <a:xfrm>
            <a:off x="23330228" y="7297572"/>
            <a:ext cx="4137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Does a disturbance occur?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662823-BFB2-169E-8FA1-3C54AF5D6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1449" y="5998884"/>
            <a:ext cx="2030198" cy="29359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2E2450-36BD-CB3D-F39F-9017E54358F6}"/>
              </a:ext>
            </a:extLst>
          </p:cNvPr>
          <p:cNvSpPr txBox="1"/>
          <p:nvPr/>
        </p:nvSpPr>
        <p:spPr>
          <a:xfrm>
            <a:off x="25137761" y="9329804"/>
            <a:ext cx="43887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err="1"/>
              <a:t>disturbance_size</a:t>
            </a:r>
            <a:r>
              <a:rPr lang="en-AU" sz="1600" dirty="0"/>
              <a:t> &lt;- 1-disturbance_size_chance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AFAEDC-3DBE-B02C-B2C2-3EC7353621A1}"/>
              </a:ext>
            </a:extLst>
          </p:cNvPr>
          <p:cNvSpPr txBox="1"/>
          <p:nvPr/>
        </p:nvSpPr>
        <p:spPr>
          <a:xfrm>
            <a:off x="26933574" y="9991522"/>
            <a:ext cx="2509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Disturbance shifts by age?</a:t>
            </a:r>
            <a:endParaRPr lang="en-AU" sz="1600" dirty="0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24A61367-B695-D485-8C2B-FB6E1899E1BA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19865090" y="7466849"/>
            <a:ext cx="3465138" cy="2042910"/>
          </a:xfrm>
          <a:prstGeom prst="curvedConnector3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FA5F5CC-43B5-8473-0EF8-3DD715A0701F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23878850" y="8240170"/>
            <a:ext cx="1781130" cy="736692"/>
          </a:xfrm>
          <a:prstGeom prst="curvedConnector2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55B80A1-A7EC-457A-80D9-588DEDFCCFCC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rot="16200000" flipH="1">
            <a:off x="27598611" y="9401892"/>
            <a:ext cx="323164" cy="856099"/>
          </a:xfrm>
          <a:prstGeom prst="curved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F1E5DD-E4A4-8707-0ABC-9ADDD87431B7}"/>
              </a:ext>
            </a:extLst>
          </p:cNvPr>
          <p:cNvSpPr txBox="1"/>
          <p:nvPr/>
        </p:nvSpPr>
        <p:spPr>
          <a:xfrm>
            <a:off x="24045066" y="11110921"/>
            <a:ext cx="4055151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Calculates age differential impact (higher for seedlings) – 0-1 score</a:t>
            </a:r>
          </a:p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Changes age, MR and recruitment score by this (1+dist val)</a:t>
            </a:r>
            <a:endParaRPr lang="en-A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64E0C3-1275-EDE5-E695-668652266474}"/>
              </a:ext>
            </a:extLst>
          </p:cNvPr>
          <p:cNvSpPr txBox="1"/>
          <p:nvPr/>
        </p:nvSpPr>
        <p:spPr>
          <a:xfrm>
            <a:off x="28438588" y="11110921"/>
            <a:ext cx="4055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Changes age, MR and recruitment score by a flat (1+dist val)</a:t>
            </a:r>
            <a:endParaRPr lang="en-A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E93F4185-B608-AF36-C9F6-F0DC8B900105}"/>
              </a:ext>
            </a:extLst>
          </p:cNvPr>
          <p:cNvCxnSpPr>
            <a:cxnSpLocks/>
            <a:stCxn id="23" idx="2"/>
            <a:endCxn id="32" idx="0"/>
          </p:cNvCxnSpPr>
          <p:nvPr/>
        </p:nvCxnSpPr>
        <p:spPr>
          <a:xfrm rot="5400000">
            <a:off x="26740022" y="9662698"/>
            <a:ext cx="780845" cy="2115603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7102E82E-F4C8-A325-F3EC-F6999533F87C}"/>
              </a:ext>
            </a:extLst>
          </p:cNvPr>
          <p:cNvCxnSpPr>
            <a:cxnSpLocks/>
            <a:stCxn id="23" idx="2"/>
            <a:endCxn id="34" idx="0"/>
          </p:cNvCxnSpPr>
          <p:nvPr/>
        </p:nvCxnSpPr>
        <p:spPr>
          <a:xfrm rot="16200000" flipH="1">
            <a:off x="28936781" y="9581539"/>
            <a:ext cx="780844" cy="2277919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98ADC30-D0CA-4C13-49BE-DF94E6634DBE}"/>
              </a:ext>
            </a:extLst>
          </p:cNvPr>
          <p:cNvSpPr txBox="1"/>
          <p:nvPr/>
        </p:nvSpPr>
        <p:spPr>
          <a:xfrm>
            <a:off x="26181512" y="10397434"/>
            <a:ext cx="865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‘Complex’</a:t>
            </a:r>
            <a:endParaRPr lang="en-AU" sz="120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E4DF97-16EC-23E3-81F1-7DB753730DE4}"/>
              </a:ext>
            </a:extLst>
          </p:cNvPr>
          <p:cNvSpPr txBox="1"/>
          <p:nvPr/>
        </p:nvSpPr>
        <p:spPr>
          <a:xfrm>
            <a:off x="29225189" y="10368252"/>
            <a:ext cx="518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‘Flat’</a:t>
            </a:r>
            <a:endParaRPr lang="en-AU" sz="1200" i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4F0B64-9E76-4A11-ED29-B75F1E22BFE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8093821" y="7949148"/>
            <a:ext cx="9931" cy="123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0E2FF18-9448-43D5-FEEC-4F467257AD6B}"/>
              </a:ext>
            </a:extLst>
          </p:cNvPr>
          <p:cNvSpPr txBox="1"/>
          <p:nvPr/>
        </p:nvSpPr>
        <p:spPr>
          <a:xfrm>
            <a:off x="22828317" y="10140582"/>
            <a:ext cx="219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No change to pre-set values</a:t>
            </a:r>
            <a:endParaRPr lang="en-A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63DBAFAA-52D3-6EE4-0A33-404B796DAD2A}"/>
              </a:ext>
            </a:extLst>
          </p:cNvPr>
          <p:cNvCxnSpPr>
            <a:cxnSpLocks/>
            <a:endCxn id="58" idx="0"/>
          </p:cNvCxnSpPr>
          <p:nvPr/>
        </p:nvCxnSpPr>
        <p:spPr>
          <a:xfrm rot="5400000">
            <a:off x="23051491" y="8774881"/>
            <a:ext cx="2237952" cy="493448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183349C0-A4E7-8ECB-18B9-DB26EE7ACB0B}"/>
              </a:ext>
            </a:extLst>
          </p:cNvPr>
          <p:cNvCxnSpPr>
            <a:cxnSpLocks/>
            <a:endCxn id="7" idx="2"/>
          </p:cNvCxnSpPr>
          <p:nvPr/>
        </p:nvCxnSpPr>
        <p:spPr>
          <a:xfrm rot="10800000">
            <a:off x="18103750" y="9832924"/>
            <a:ext cx="5080488" cy="7497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A9FB576-2B4E-59A9-594C-E1AD4AD7AA61}"/>
              </a:ext>
            </a:extLst>
          </p:cNvPr>
          <p:cNvSpPr txBox="1"/>
          <p:nvPr/>
        </p:nvSpPr>
        <p:spPr>
          <a:xfrm>
            <a:off x="27467887" y="16556481"/>
            <a:ext cx="2637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Density recruitment toggle – if so, changes recruitment constant based on pop size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A981A9-A430-C6DC-7468-F9B565668ED3}"/>
              </a:ext>
            </a:extLst>
          </p:cNvPr>
          <p:cNvSpPr txBox="1"/>
          <p:nvPr/>
        </p:nvSpPr>
        <p:spPr>
          <a:xfrm>
            <a:off x="27214228" y="15700232"/>
            <a:ext cx="312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If population &lt; minimum pop size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AF58E9-472F-9A69-A8C0-8EAAE356792D}"/>
              </a:ext>
            </a:extLst>
          </p:cNvPr>
          <p:cNvSpPr txBox="1"/>
          <p:nvPr/>
        </p:nvSpPr>
        <p:spPr>
          <a:xfrm>
            <a:off x="21537560" y="18469908"/>
            <a:ext cx="4523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Calculate number of fecund individuals and </a:t>
            </a:r>
            <a:br>
              <a:rPr lang="en-AU" sz="1600" dirty="0"/>
            </a:br>
            <a:r>
              <a:rPr lang="en-AU" sz="1600" dirty="0"/>
              <a:t>their chance of recruitment given age + MR status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71BF0A-D7B1-8766-7DB5-76E06B56BB5F}"/>
              </a:ext>
            </a:extLst>
          </p:cNvPr>
          <p:cNvSpPr txBox="1"/>
          <p:nvPr/>
        </p:nvSpPr>
        <p:spPr>
          <a:xfrm>
            <a:off x="21356709" y="20299436"/>
            <a:ext cx="4885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If they recruit calculate how many seedlings recruited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012D85-F70A-4506-BA57-F07FEBAC3C69}"/>
              </a:ext>
            </a:extLst>
          </p:cNvPr>
          <p:cNvSpPr txBox="1"/>
          <p:nvPr/>
        </p:nvSpPr>
        <p:spPr>
          <a:xfrm>
            <a:off x="20198831" y="21996128"/>
            <a:ext cx="74177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For each recruited individual calculate MR status depending on parent’s MR status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0760143-309D-AAAB-BE92-CACC95F41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5195" y="22042405"/>
            <a:ext cx="2152706" cy="129465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7BEB0F37-4874-7F11-9ABD-7E2F98BDA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0333" y="22042405"/>
            <a:ext cx="1880947" cy="122522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EC28ADDB-B6C7-6588-22DB-BC2768EA8FBA}"/>
              </a:ext>
            </a:extLst>
          </p:cNvPr>
          <p:cNvSpPr txBox="1"/>
          <p:nvPr/>
        </p:nvSpPr>
        <p:spPr>
          <a:xfrm>
            <a:off x="21429543" y="23388590"/>
            <a:ext cx="4723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Append to ‘recruited population’ give all individuals </a:t>
            </a:r>
            <a:br>
              <a:rPr lang="en-AU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a mortality of 0 for time point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34014F7-86E9-278B-B89D-4C770C43AB80}"/>
              </a:ext>
            </a:extLst>
          </p:cNvPr>
          <p:cNvCxnSpPr>
            <a:cxnSpLocks/>
            <a:stCxn id="9" idx="2"/>
            <a:endCxn id="114" idx="0"/>
          </p:cNvCxnSpPr>
          <p:nvPr/>
        </p:nvCxnSpPr>
        <p:spPr>
          <a:xfrm>
            <a:off x="23799300" y="15452751"/>
            <a:ext cx="2020" cy="79147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55FB12C2-301E-3F06-049A-E119FFFB77AC}"/>
              </a:ext>
            </a:extLst>
          </p:cNvPr>
          <p:cNvCxnSpPr>
            <a:cxnSpLocks/>
            <a:endCxn id="114" idx="3"/>
          </p:cNvCxnSpPr>
          <p:nvPr/>
        </p:nvCxnSpPr>
        <p:spPr>
          <a:xfrm rot="10800000" flipV="1">
            <a:off x="24482042" y="15869499"/>
            <a:ext cx="2642649" cy="790223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FC313F4-ACD6-6E50-6CE3-D6ABAA282356}"/>
              </a:ext>
            </a:extLst>
          </p:cNvPr>
          <p:cNvSpPr txBox="1"/>
          <p:nvPr/>
        </p:nvSpPr>
        <p:spPr>
          <a:xfrm>
            <a:off x="31451350" y="15700232"/>
            <a:ext cx="2506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Recruitment constant x 10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364F42E-1588-E7D3-9D7A-B93011F9AC85}"/>
              </a:ext>
            </a:extLst>
          </p:cNvPr>
          <p:cNvCxnSpPr>
            <a:stCxn id="73" idx="3"/>
            <a:endCxn id="94" idx="1"/>
          </p:cNvCxnSpPr>
          <p:nvPr/>
        </p:nvCxnSpPr>
        <p:spPr>
          <a:xfrm>
            <a:off x="30335532" y="15869509"/>
            <a:ext cx="111581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41EBFA3D-9D16-DA6C-C5A8-2CA9884C368A}"/>
              </a:ext>
            </a:extLst>
          </p:cNvPr>
          <p:cNvCxnSpPr>
            <a:cxnSpLocks/>
            <a:stCxn id="72" idx="1"/>
            <a:endCxn id="114" idx="3"/>
          </p:cNvCxnSpPr>
          <p:nvPr/>
        </p:nvCxnSpPr>
        <p:spPr>
          <a:xfrm rot="10800000">
            <a:off x="24482039" y="16659724"/>
            <a:ext cx="2985848" cy="312257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00B0CCA-088A-4DC9-AD8B-A857EA11DC97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23799300" y="19054683"/>
            <a:ext cx="0" cy="101192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B882E0D-485E-2F9D-28F1-ED80825E1747}"/>
              </a:ext>
            </a:extLst>
          </p:cNvPr>
          <p:cNvCxnSpPr>
            <a:cxnSpLocks/>
            <a:stCxn id="75" idx="3"/>
            <a:endCxn id="110" idx="1"/>
          </p:cNvCxnSpPr>
          <p:nvPr/>
        </p:nvCxnSpPr>
        <p:spPr>
          <a:xfrm>
            <a:off x="26241892" y="20468713"/>
            <a:ext cx="978557" cy="512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EA8B500-C01C-E746-58C8-CECFB3F0E935}"/>
              </a:ext>
            </a:extLst>
          </p:cNvPr>
          <p:cNvSpPr txBox="1"/>
          <p:nvPr/>
        </p:nvSpPr>
        <p:spPr>
          <a:xfrm>
            <a:off x="27220449" y="20304564"/>
            <a:ext cx="8314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rnorm</a:t>
            </a:r>
            <a:r>
              <a:rPr lang="en-US" sz="1600" dirty="0"/>
              <a:t>(n=sum(</a:t>
            </a:r>
            <a:r>
              <a:rPr lang="en-US" sz="1600" dirty="0" err="1"/>
              <a:t>indiv_recruitment</a:t>
            </a:r>
            <a:r>
              <a:rPr lang="en-US" sz="1600" dirty="0"/>
              <a:t>), mean = </a:t>
            </a:r>
            <a:r>
              <a:rPr lang="en-US" sz="1600" dirty="0" err="1"/>
              <a:t>recruitment_size_mean</a:t>
            </a:r>
            <a:r>
              <a:rPr lang="en-US" sz="1600" dirty="0"/>
              <a:t>, </a:t>
            </a:r>
            <a:r>
              <a:rPr lang="en-US" sz="1600" dirty="0" err="1"/>
              <a:t>sd</a:t>
            </a:r>
            <a:r>
              <a:rPr lang="en-US" sz="1600" dirty="0"/>
              <a:t> = </a:t>
            </a:r>
            <a:r>
              <a:rPr lang="en-US" sz="1600" dirty="0" err="1"/>
              <a:t>recruitment_size_sd</a:t>
            </a:r>
            <a:r>
              <a:rPr lang="en-US" sz="1600" dirty="0"/>
              <a:t>)</a:t>
            </a:r>
            <a:endParaRPr lang="en-AU" sz="16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EA3C9C7-CA9A-CE71-D384-A0027E790DB3}"/>
              </a:ext>
            </a:extLst>
          </p:cNvPr>
          <p:cNvSpPr txBox="1"/>
          <p:nvPr/>
        </p:nvSpPr>
        <p:spPr>
          <a:xfrm>
            <a:off x="26933573" y="18608406"/>
            <a:ext cx="29038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Individuals &gt;= </a:t>
            </a:r>
            <a:r>
              <a:rPr lang="en-US" sz="1600" dirty="0" err="1"/>
              <a:t>recruitment_age</a:t>
            </a:r>
            <a:endParaRPr lang="en-AU" sz="1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17E4EB8-54F6-C13B-8CE2-8E0E9C5383FC}"/>
              </a:ext>
            </a:extLst>
          </p:cNvPr>
          <p:cNvSpPr txBox="1"/>
          <p:nvPr/>
        </p:nvSpPr>
        <p:spPr>
          <a:xfrm>
            <a:off x="23120602" y="16244224"/>
            <a:ext cx="1361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Adjust recruitment constant?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DAB318-AEE5-BCF7-15DD-F724DAC428BE}"/>
              </a:ext>
            </a:extLst>
          </p:cNvPr>
          <p:cNvCxnSpPr>
            <a:cxnSpLocks/>
            <a:stCxn id="114" idx="2"/>
            <a:endCxn id="74" idx="0"/>
          </p:cNvCxnSpPr>
          <p:nvPr/>
        </p:nvCxnSpPr>
        <p:spPr>
          <a:xfrm flipH="1">
            <a:off x="23799301" y="17075221"/>
            <a:ext cx="2021" cy="139468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3B10420-E067-79E5-0B02-24353474D422}"/>
              </a:ext>
            </a:extLst>
          </p:cNvPr>
          <p:cNvCxnSpPr>
            <a:cxnSpLocks/>
            <a:stCxn id="74" idx="3"/>
            <a:endCxn id="113" idx="1"/>
          </p:cNvCxnSpPr>
          <p:nvPr/>
        </p:nvCxnSpPr>
        <p:spPr>
          <a:xfrm>
            <a:off x="26061041" y="18762295"/>
            <a:ext cx="872533" cy="153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20FE633-8C6E-F920-62FD-4F879DCCDF9C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23799300" y="20637990"/>
            <a:ext cx="0" cy="121236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D75ABF43-996A-5ABD-15BC-2BE13A011C1A}"/>
              </a:ext>
            </a:extLst>
          </p:cNvPr>
          <p:cNvSpPr txBox="1"/>
          <p:nvPr/>
        </p:nvSpPr>
        <p:spPr>
          <a:xfrm>
            <a:off x="28822977" y="21531568"/>
            <a:ext cx="54168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rbeta</a:t>
            </a:r>
            <a:r>
              <a:rPr lang="en-US" sz="1600" dirty="0"/>
              <a:t>( shape1=parent_MR+1)^2, shape2=(2- </a:t>
            </a:r>
            <a:r>
              <a:rPr lang="en-US" sz="1600" dirty="0" err="1"/>
              <a:t>parent_MR</a:t>
            </a:r>
            <a:r>
              <a:rPr lang="en-US" sz="1600" dirty="0"/>
              <a:t>)^2)</a:t>
            </a:r>
            <a:endParaRPr lang="en-AU" sz="1600" dirty="0"/>
          </a:p>
          <a:p>
            <a:endParaRPr lang="en-AU" sz="1600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EFFBD95-96A8-0DAC-BE75-2E099621A256}"/>
              </a:ext>
            </a:extLst>
          </p:cNvPr>
          <p:cNvCxnSpPr>
            <a:cxnSpLocks/>
          </p:cNvCxnSpPr>
          <p:nvPr/>
        </p:nvCxnSpPr>
        <p:spPr>
          <a:xfrm>
            <a:off x="27653723" y="22174183"/>
            <a:ext cx="955853" cy="52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D0890189-139D-A8A8-3F22-DA7CC7BD694A}"/>
              </a:ext>
            </a:extLst>
          </p:cNvPr>
          <p:cNvCxnSpPr>
            <a:cxnSpLocks/>
          </p:cNvCxnSpPr>
          <p:nvPr/>
        </p:nvCxnSpPr>
        <p:spPr>
          <a:xfrm flipH="1">
            <a:off x="23791088" y="22467751"/>
            <a:ext cx="1" cy="75965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Connector: Curved 136">
            <a:extLst>
              <a:ext uri="{FF2B5EF4-FFF2-40B4-BE49-F238E27FC236}">
                <a16:creationId xmlns:a16="http://schemas.microsoft.com/office/drawing/2014/main" id="{EEAAD47A-980A-34FE-DB83-30ED5EC674F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18464778" y="9471896"/>
            <a:ext cx="4973494" cy="569555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BC5A37D5-E03B-CB59-1BA3-0C820E729F2E}"/>
              </a:ext>
            </a:extLst>
          </p:cNvPr>
          <p:cNvSpPr txBox="1"/>
          <p:nvPr/>
        </p:nvSpPr>
        <p:spPr>
          <a:xfrm>
            <a:off x="9671915" y="15739219"/>
            <a:ext cx="2346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If MR mortality is </a:t>
            </a:r>
            <a:r>
              <a:rPr lang="en-AU" b="1" dirty="0">
                <a:solidFill>
                  <a:srgbClr val="C00000"/>
                </a:solidFill>
              </a:rPr>
              <a:t>introduced late </a:t>
            </a:r>
            <a:r>
              <a:rPr lang="en-AU" dirty="0">
                <a:solidFill>
                  <a:srgbClr val="C00000"/>
                </a:solidFill>
              </a:rPr>
              <a:t>&amp; the time point is </a:t>
            </a:r>
            <a:r>
              <a:rPr lang="en-AU" b="1" dirty="0">
                <a:solidFill>
                  <a:srgbClr val="C00000"/>
                </a:solidFill>
              </a:rPr>
              <a:t>after</a:t>
            </a:r>
            <a:r>
              <a:rPr lang="en-AU" dirty="0">
                <a:solidFill>
                  <a:srgbClr val="C00000"/>
                </a:solidFill>
              </a:rPr>
              <a:t> the introduction time - </a:t>
            </a:r>
            <a:r>
              <a:rPr lang="en-AU" dirty="0" err="1">
                <a:solidFill>
                  <a:srgbClr val="C00000"/>
                </a:solidFill>
              </a:rPr>
              <a:t>mortality_functions_MRintro_hill.R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BB7BBDC-D799-5A25-1357-ED3D188CF67A}"/>
              </a:ext>
            </a:extLst>
          </p:cNvPr>
          <p:cNvSpPr txBox="1"/>
          <p:nvPr/>
        </p:nvSpPr>
        <p:spPr>
          <a:xfrm>
            <a:off x="13274885" y="15739218"/>
            <a:ext cx="3009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If MR mortality is </a:t>
            </a:r>
            <a:r>
              <a:rPr lang="en-AU" b="1" dirty="0">
                <a:solidFill>
                  <a:srgbClr val="C00000"/>
                </a:solidFill>
              </a:rPr>
              <a:t>constant </a:t>
            </a:r>
            <a:r>
              <a:rPr lang="en-AU" dirty="0">
                <a:solidFill>
                  <a:srgbClr val="C00000"/>
                </a:solidFill>
              </a:rPr>
              <a:t>or the time point is </a:t>
            </a:r>
            <a:r>
              <a:rPr lang="en-AU" b="1" dirty="0">
                <a:solidFill>
                  <a:srgbClr val="C00000"/>
                </a:solidFill>
              </a:rPr>
              <a:t>before</a:t>
            </a:r>
            <a:r>
              <a:rPr lang="en-AU" dirty="0">
                <a:solidFill>
                  <a:srgbClr val="C00000"/>
                </a:solidFill>
              </a:rPr>
              <a:t> the MR introduction time - </a:t>
            </a:r>
            <a:r>
              <a:rPr lang="en-AU" dirty="0" err="1">
                <a:solidFill>
                  <a:srgbClr val="C00000"/>
                </a:solidFill>
              </a:rPr>
              <a:t>mortality_functions_hill.R</a:t>
            </a:r>
            <a:endParaRPr lang="en-AU" dirty="0">
              <a:solidFill>
                <a:srgbClr val="C00000"/>
              </a:solidFill>
            </a:endParaRPr>
          </a:p>
        </p:txBody>
      </p:sp>
      <p:cxnSp>
        <p:nvCxnSpPr>
          <p:cNvPr id="145" name="Connector: Curved 144">
            <a:extLst>
              <a:ext uri="{FF2B5EF4-FFF2-40B4-BE49-F238E27FC236}">
                <a16:creationId xmlns:a16="http://schemas.microsoft.com/office/drawing/2014/main" id="{9BC7DCC4-51C5-FFB2-B819-1BEF15A4C259}"/>
              </a:ext>
            </a:extLst>
          </p:cNvPr>
          <p:cNvCxnSpPr>
            <a:cxnSpLocks/>
            <a:stCxn id="6" idx="2"/>
            <a:endCxn id="142" idx="0"/>
          </p:cNvCxnSpPr>
          <p:nvPr/>
        </p:nvCxnSpPr>
        <p:spPr>
          <a:xfrm rot="16200000" flipH="1">
            <a:off x="13445497" y="14405286"/>
            <a:ext cx="841549" cy="1826313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Connector: Curved 147">
            <a:extLst>
              <a:ext uri="{FF2B5EF4-FFF2-40B4-BE49-F238E27FC236}">
                <a16:creationId xmlns:a16="http://schemas.microsoft.com/office/drawing/2014/main" id="{26456A01-27C7-FCF6-79DC-F375A88A7675}"/>
              </a:ext>
            </a:extLst>
          </p:cNvPr>
          <p:cNvCxnSpPr>
            <a:cxnSpLocks/>
            <a:stCxn id="6" idx="2"/>
            <a:endCxn id="139" idx="0"/>
          </p:cNvCxnSpPr>
          <p:nvPr/>
        </p:nvCxnSpPr>
        <p:spPr>
          <a:xfrm rot="5400000">
            <a:off x="11478478" y="14264586"/>
            <a:ext cx="841552" cy="2107719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A5051F35-6EBC-9180-2A09-B497D34A0953}"/>
              </a:ext>
            </a:extLst>
          </p:cNvPr>
          <p:cNvSpPr txBox="1"/>
          <p:nvPr/>
        </p:nvSpPr>
        <p:spPr>
          <a:xfrm>
            <a:off x="12066415" y="20738709"/>
            <a:ext cx="2234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Calculate age mortality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DA85BC6-8584-68D3-F524-CF430A03CF28}"/>
              </a:ext>
            </a:extLst>
          </p:cNvPr>
          <p:cNvSpPr txBox="1"/>
          <p:nvPr/>
        </p:nvSpPr>
        <p:spPr>
          <a:xfrm>
            <a:off x="5224000" y="20490323"/>
            <a:ext cx="3913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Two hill equation with varying direction + steepness depending that changes at  </a:t>
            </a:r>
            <a:r>
              <a:rPr lang="en-AU" sz="1600" dirty="0" err="1"/>
              <a:t>mortality_age_shiftch</a:t>
            </a:r>
            <a:endParaRPr lang="en-AU" sz="1600" dirty="0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1E04E0E-B7C0-4652-DC93-48D2FF72FA64}"/>
              </a:ext>
            </a:extLst>
          </p:cNvPr>
          <p:cNvCxnSpPr>
            <a:cxnSpLocks/>
            <a:stCxn id="152" idx="1"/>
            <a:endCxn id="153" idx="3"/>
          </p:cNvCxnSpPr>
          <p:nvPr/>
        </p:nvCxnSpPr>
        <p:spPr>
          <a:xfrm flipH="1" flipV="1">
            <a:off x="9137034" y="20905820"/>
            <a:ext cx="2929383" cy="21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ED84E6B-8BAE-CE91-4853-F0196DA906D9}"/>
              </a:ext>
            </a:extLst>
          </p:cNvPr>
          <p:cNvSpPr txBox="1"/>
          <p:nvPr/>
        </p:nvSpPr>
        <p:spPr>
          <a:xfrm>
            <a:off x="22124646" y="25676237"/>
            <a:ext cx="333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Add intervention individuals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1336F9B-0EC1-5B7A-BBF0-EC2F0D98CBF9}"/>
              </a:ext>
            </a:extLst>
          </p:cNvPr>
          <p:cNvSpPr txBox="1"/>
          <p:nvPr/>
        </p:nvSpPr>
        <p:spPr>
          <a:xfrm>
            <a:off x="11343136" y="19481831"/>
            <a:ext cx="36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Reduce intervention individual’s mortality chance if toggle on</a:t>
            </a:r>
          </a:p>
        </p:txBody>
      </p:sp>
      <p:cxnSp>
        <p:nvCxnSpPr>
          <p:cNvPr id="164" name="Connector: Curved 163">
            <a:extLst>
              <a:ext uri="{FF2B5EF4-FFF2-40B4-BE49-F238E27FC236}">
                <a16:creationId xmlns:a16="http://schemas.microsoft.com/office/drawing/2014/main" id="{B9E8F387-CB36-D71C-1E78-5DA8C39DF4EC}"/>
              </a:ext>
            </a:extLst>
          </p:cNvPr>
          <p:cNvCxnSpPr>
            <a:stCxn id="161" idx="1"/>
            <a:endCxn id="162" idx="3"/>
          </p:cNvCxnSpPr>
          <p:nvPr/>
        </p:nvCxnSpPr>
        <p:spPr>
          <a:xfrm rot="10800000">
            <a:off x="15031602" y="19774217"/>
            <a:ext cx="7093042" cy="6086686"/>
          </a:xfrm>
          <a:prstGeom prst="curvedConnector3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99456A02-330A-B697-F446-FD265C081B85}"/>
              </a:ext>
            </a:extLst>
          </p:cNvPr>
          <p:cNvSpPr txBox="1"/>
          <p:nvPr/>
        </p:nvSpPr>
        <p:spPr>
          <a:xfrm>
            <a:off x="11722023" y="22156561"/>
            <a:ext cx="292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Age x MR interaction toggle on?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11838C-EFC1-A50D-8A85-5DDB51823239}"/>
              </a:ext>
            </a:extLst>
          </p:cNvPr>
          <p:cNvSpPr txBox="1"/>
          <p:nvPr/>
        </p:nvSpPr>
        <p:spPr>
          <a:xfrm>
            <a:off x="1783693" y="22184783"/>
            <a:ext cx="7353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 err="1"/>
              <a:t>MR_chance</a:t>
            </a:r>
            <a:r>
              <a:rPr lang="en-AU" sz="1600" dirty="0"/>
              <a:t> &lt;- (1 / (1 + (ages / </a:t>
            </a:r>
            <a:r>
              <a:rPr lang="en-AU" sz="1600" dirty="0" err="1"/>
              <a:t>MR_age_impact_val</a:t>
            </a:r>
            <a:r>
              <a:rPr lang="en-AU" sz="1600" dirty="0"/>
              <a:t>))) * MR * </a:t>
            </a:r>
            <a:r>
              <a:rPr lang="en-AU" sz="1600" dirty="0" err="1"/>
              <a:t>MR_death_impact_val</a:t>
            </a:r>
            <a:endParaRPr lang="en-AU" sz="1600" dirty="0"/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F70FD2B-8692-2E0A-0522-04040C9A2DEC}"/>
              </a:ext>
            </a:extLst>
          </p:cNvPr>
          <p:cNvCxnSpPr>
            <a:cxnSpLocks/>
            <a:stCxn id="165" idx="1"/>
            <a:endCxn id="167" idx="3"/>
          </p:cNvCxnSpPr>
          <p:nvPr/>
        </p:nvCxnSpPr>
        <p:spPr>
          <a:xfrm flipH="1">
            <a:off x="9137031" y="22325838"/>
            <a:ext cx="2584990" cy="282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E27122D8-EA40-6BDA-944E-44C0F0EE6908}"/>
              </a:ext>
            </a:extLst>
          </p:cNvPr>
          <p:cNvSpPr txBox="1"/>
          <p:nvPr/>
        </p:nvSpPr>
        <p:spPr>
          <a:xfrm>
            <a:off x="10910080" y="24416739"/>
            <a:ext cx="4554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If population is larger than max carrying capacity,:</a:t>
            </a:r>
          </a:p>
          <a:p>
            <a:pPr algn="ctr"/>
            <a:r>
              <a:rPr lang="en-AU" sz="1600" dirty="0"/>
              <a:t>raise minimum chance of mortality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DC14971-2B4E-272F-26F7-E45C48250CAE}"/>
              </a:ext>
            </a:extLst>
          </p:cNvPr>
          <p:cNvSpPr txBox="1"/>
          <p:nvPr/>
        </p:nvSpPr>
        <p:spPr>
          <a:xfrm>
            <a:off x="11217335" y="23261817"/>
            <a:ext cx="3928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Calculate final change of mortality using a </a:t>
            </a:r>
            <a:br>
              <a:rPr lang="en-AU" sz="1600" dirty="0"/>
            </a:br>
            <a:r>
              <a:rPr lang="en-AU" sz="1600" dirty="0"/>
              <a:t>conditional probability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65A8751-15E6-D236-2CB3-AF4609228FBF}"/>
              </a:ext>
            </a:extLst>
          </p:cNvPr>
          <p:cNvSpPr txBox="1"/>
          <p:nvPr/>
        </p:nvSpPr>
        <p:spPr>
          <a:xfrm>
            <a:off x="1534001" y="24538554"/>
            <a:ext cx="847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 err="1"/>
              <a:t>comp_chance</a:t>
            </a:r>
            <a:r>
              <a:rPr lang="en-AU" sz="1600" dirty="0"/>
              <a:t> = (</a:t>
            </a:r>
            <a:r>
              <a:rPr lang="en-AU" sz="1600" dirty="0" err="1"/>
              <a:t>pop_size</a:t>
            </a:r>
            <a:r>
              <a:rPr lang="en-AU" sz="1600" dirty="0"/>
              <a:t> - </a:t>
            </a:r>
            <a:r>
              <a:rPr lang="en-AU" sz="1600" dirty="0" err="1"/>
              <a:t>population_capacity</a:t>
            </a:r>
            <a:r>
              <a:rPr lang="en-AU" sz="1600" dirty="0"/>
              <a:t>)/</a:t>
            </a:r>
            <a:r>
              <a:rPr lang="en-AU" sz="1600" dirty="0" err="1"/>
              <a:t>population_capacity</a:t>
            </a:r>
            <a:r>
              <a:rPr lang="en-AU" sz="1600" dirty="0"/>
              <a:t>  * (1+comp_impact_val)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0D0E36E-647E-BC18-89F1-6C73C61CE28C}"/>
              </a:ext>
            </a:extLst>
          </p:cNvPr>
          <p:cNvSpPr txBox="1"/>
          <p:nvPr/>
        </p:nvSpPr>
        <p:spPr>
          <a:xfrm>
            <a:off x="10251112" y="25656681"/>
            <a:ext cx="5884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Determine weighted chance mortality outcome for all individuals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58F36B5-2766-356C-2872-0A6CFA015485}"/>
              </a:ext>
            </a:extLst>
          </p:cNvPr>
          <p:cNvSpPr txBox="1"/>
          <p:nvPr/>
        </p:nvSpPr>
        <p:spPr>
          <a:xfrm>
            <a:off x="11339476" y="18269628"/>
            <a:ext cx="368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Changes MR chance accordingly</a:t>
            </a:r>
            <a:endParaRPr lang="en-AU" sz="1600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8965ED2-C478-1069-F147-2193DC4C3B25}"/>
              </a:ext>
            </a:extLst>
          </p:cNvPr>
          <p:cNvCxnSpPr>
            <a:cxnSpLocks/>
            <a:stCxn id="182" idx="2"/>
            <a:endCxn id="162" idx="0"/>
          </p:cNvCxnSpPr>
          <p:nvPr/>
        </p:nvCxnSpPr>
        <p:spPr>
          <a:xfrm>
            <a:off x="13183709" y="18608184"/>
            <a:ext cx="3660" cy="87364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9BE65EFD-0487-C7D2-4614-F5B8015FA299}"/>
              </a:ext>
            </a:extLst>
          </p:cNvPr>
          <p:cNvCxnSpPr>
            <a:cxnSpLocks/>
            <a:stCxn id="162" idx="2"/>
            <a:endCxn id="152" idx="0"/>
          </p:cNvCxnSpPr>
          <p:nvPr/>
        </p:nvCxnSpPr>
        <p:spPr>
          <a:xfrm flipH="1">
            <a:off x="13183710" y="20066606"/>
            <a:ext cx="3661" cy="672105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9075DD89-EDA3-5DC7-19D7-24FC38924B6A}"/>
              </a:ext>
            </a:extLst>
          </p:cNvPr>
          <p:cNvCxnSpPr>
            <a:cxnSpLocks/>
            <a:stCxn id="152" idx="2"/>
            <a:endCxn id="165" idx="0"/>
          </p:cNvCxnSpPr>
          <p:nvPr/>
        </p:nvCxnSpPr>
        <p:spPr>
          <a:xfrm flipH="1">
            <a:off x="13183225" y="21077263"/>
            <a:ext cx="485" cy="107929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35AA9FE-5E0A-5676-0857-EAC6BEF5D1F2}"/>
              </a:ext>
            </a:extLst>
          </p:cNvPr>
          <p:cNvCxnSpPr>
            <a:cxnSpLocks/>
            <a:stCxn id="165" idx="2"/>
            <a:endCxn id="176" idx="0"/>
          </p:cNvCxnSpPr>
          <p:nvPr/>
        </p:nvCxnSpPr>
        <p:spPr>
          <a:xfrm flipH="1">
            <a:off x="13181816" y="22495115"/>
            <a:ext cx="1409" cy="76670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4658FC91-BE7A-215B-E526-3F284AE0ED4B}"/>
              </a:ext>
            </a:extLst>
          </p:cNvPr>
          <p:cNvCxnSpPr>
            <a:cxnSpLocks/>
            <a:stCxn id="176" idx="2"/>
            <a:endCxn id="175" idx="0"/>
          </p:cNvCxnSpPr>
          <p:nvPr/>
        </p:nvCxnSpPr>
        <p:spPr>
          <a:xfrm>
            <a:off x="13181814" y="23846592"/>
            <a:ext cx="5332" cy="57014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DE1DCF03-3F66-CD2C-8E60-84F89A375F0C}"/>
              </a:ext>
            </a:extLst>
          </p:cNvPr>
          <p:cNvCxnSpPr>
            <a:cxnSpLocks/>
            <a:stCxn id="175" idx="2"/>
            <a:endCxn id="180" idx="0"/>
          </p:cNvCxnSpPr>
          <p:nvPr/>
        </p:nvCxnSpPr>
        <p:spPr>
          <a:xfrm>
            <a:off x="13187146" y="25001514"/>
            <a:ext cx="6180" cy="65516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108B1E06-6F1B-1C90-8D05-E01445263EC5}"/>
              </a:ext>
            </a:extLst>
          </p:cNvPr>
          <p:cNvCxnSpPr>
            <a:cxnSpLocks/>
            <a:stCxn id="175" idx="1"/>
            <a:endCxn id="179" idx="3"/>
          </p:cNvCxnSpPr>
          <p:nvPr/>
        </p:nvCxnSpPr>
        <p:spPr>
          <a:xfrm flipH="1" flipV="1">
            <a:off x="10012963" y="24707831"/>
            <a:ext cx="897119" cy="12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7458954C-050A-2A65-E17D-E502930A0FC8}"/>
              </a:ext>
            </a:extLst>
          </p:cNvPr>
          <p:cNvSpPr txBox="1"/>
          <p:nvPr/>
        </p:nvSpPr>
        <p:spPr>
          <a:xfrm>
            <a:off x="26297428" y="25577823"/>
            <a:ext cx="5205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User set number of individuals and time point introduced</a:t>
            </a:r>
          </a:p>
          <a:p>
            <a:r>
              <a:rPr lang="en-GB" sz="1600" dirty="0"/>
              <a:t>MR determined by </a:t>
            </a:r>
            <a:r>
              <a:rPr lang="en-GB" sz="1600" dirty="0" err="1"/>
              <a:t>rnorm</a:t>
            </a:r>
            <a:r>
              <a:rPr lang="en-GB" sz="1600" dirty="0"/>
              <a:t> using pre-set mean and SD</a:t>
            </a:r>
            <a:endParaRPr lang="en-AU" sz="1600" dirty="0"/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11C9B2E2-9022-1571-3949-81343469F1A7}"/>
              </a:ext>
            </a:extLst>
          </p:cNvPr>
          <p:cNvCxnSpPr>
            <a:cxnSpLocks/>
            <a:stCxn id="84" idx="2"/>
            <a:endCxn id="161" idx="0"/>
          </p:cNvCxnSpPr>
          <p:nvPr/>
        </p:nvCxnSpPr>
        <p:spPr>
          <a:xfrm>
            <a:off x="23791089" y="23973363"/>
            <a:ext cx="2559" cy="170287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346E9B5C-DB1E-A0ED-8B79-90305A71DD29}"/>
              </a:ext>
            </a:extLst>
          </p:cNvPr>
          <p:cNvCxnSpPr>
            <a:cxnSpLocks/>
            <a:stCxn id="161" idx="3"/>
            <a:endCxn id="214" idx="1"/>
          </p:cNvCxnSpPr>
          <p:nvPr/>
        </p:nvCxnSpPr>
        <p:spPr>
          <a:xfrm>
            <a:off x="25462648" y="25860904"/>
            <a:ext cx="834780" cy="930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Connector: Curved 222">
            <a:extLst>
              <a:ext uri="{FF2B5EF4-FFF2-40B4-BE49-F238E27FC236}">
                <a16:creationId xmlns:a16="http://schemas.microsoft.com/office/drawing/2014/main" id="{5B256C26-0936-17EE-0C62-95C38F87EF1B}"/>
              </a:ext>
            </a:extLst>
          </p:cNvPr>
          <p:cNvCxnSpPr>
            <a:cxnSpLocks/>
            <a:stCxn id="139" idx="2"/>
            <a:endCxn id="182" idx="0"/>
          </p:cNvCxnSpPr>
          <p:nvPr/>
        </p:nvCxnSpPr>
        <p:spPr>
          <a:xfrm rot="16200000" flipH="1">
            <a:off x="11626512" y="16712430"/>
            <a:ext cx="776083" cy="2338315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Connector: Curved 225">
            <a:extLst>
              <a:ext uri="{FF2B5EF4-FFF2-40B4-BE49-F238E27FC236}">
                <a16:creationId xmlns:a16="http://schemas.microsoft.com/office/drawing/2014/main" id="{751D0FAC-036A-66EB-21C8-681F39E886C2}"/>
              </a:ext>
            </a:extLst>
          </p:cNvPr>
          <p:cNvCxnSpPr>
            <a:cxnSpLocks/>
            <a:stCxn id="142" idx="2"/>
            <a:endCxn id="182" idx="0"/>
          </p:cNvCxnSpPr>
          <p:nvPr/>
        </p:nvCxnSpPr>
        <p:spPr>
          <a:xfrm rot="5400000">
            <a:off x="13316529" y="16806730"/>
            <a:ext cx="1330083" cy="1595717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Connector: Curved 228">
            <a:extLst>
              <a:ext uri="{FF2B5EF4-FFF2-40B4-BE49-F238E27FC236}">
                <a16:creationId xmlns:a16="http://schemas.microsoft.com/office/drawing/2014/main" id="{0757DE00-E2AE-B1AF-5492-49A4B618A913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rot="5400000">
            <a:off x="13180729" y="9605313"/>
            <a:ext cx="4695411" cy="515063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Connector: Curved 232">
            <a:extLst>
              <a:ext uri="{FF2B5EF4-FFF2-40B4-BE49-F238E27FC236}">
                <a16:creationId xmlns:a16="http://schemas.microsoft.com/office/drawing/2014/main" id="{FD295581-29EA-1386-DDCD-10C2A0BD6EF4}"/>
              </a:ext>
            </a:extLst>
          </p:cNvPr>
          <p:cNvCxnSpPr>
            <a:stCxn id="180" idx="2"/>
            <a:endCxn id="10" idx="0"/>
          </p:cNvCxnSpPr>
          <p:nvPr/>
        </p:nvCxnSpPr>
        <p:spPr>
          <a:xfrm rot="16200000" flipH="1">
            <a:off x="15031886" y="24156675"/>
            <a:ext cx="1514552" cy="519167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5" name="Connector: Curved 234">
            <a:extLst>
              <a:ext uri="{FF2B5EF4-FFF2-40B4-BE49-F238E27FC236}">
                <a16:creationId xmlns:a16="http://schemas.microsoft.com/office/drawing/2014/main" id="{94E7D333-1C65-D29D-5636-80689A2A9F3F}"/>
              </a:ext>
            </a:extLst>
          </p:cNvPr>
          <p:cNvCxnSpPr>
            <a:cxnSpLocks/>
            <a:stCxn id="161" idx="2"/>
            <a:endCxn id="10" idx="0"/>
          </p:cNvCxnSpPr>
          <p:nvPr/>
        </p:nvCxnSpPr>
        <p:spPr>
          <a:xfrm rot="5400000">
            <a:off x="20357213" y="24073354"/>
            <a:ext cx="1464218" cy="540864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05B21F9A-82FF-F54D-54A7-A6D3181521BD}"/>
              </a:ext>
            </a:extLst>
          </p:cNvPr>
          <p:cNvCxnSpPr>
            <a:stCxn id="10" idx="2"/>
            <a:endCxn id="5" idx="0"/>
          </p:cNvCxnSpPr>
          <p:nvPr/>
        </p:nvCxnSpPr>
        <p:spPr>
          <a:xfrm>
            <a:off x="18385000" y="27879119"/>
            <a:ext cx="3593" cy="1262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2" name="Picture 261">
            <a:extLst>
              <a:ext uri="{FF2B5EF4-FFF2-40B4-BE49-F238E27FC236}">
                <a16:creationId xmlns:a16="http://schemas.microsoft.com/office/drawing/2014/main" id="{47823ADE-00D1-BD33-B9DA-5FE0AC977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183" y="19878811"/>
            <a:ext cx="2126202" cy="191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5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1D8089E1-18E0-F201-551B-0A303A8849A5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>
            <a:off x="16666096" y="1765596"/>
            <a:ext cx="665199" cy="26690906"/>
          </a:xfrm>
          <a:prstGeom prst="curvedConnector3">
            <a:avLst>
              <a:gd name="adj1" fmla="val 2228477"/>
            </a:avLst>
          </a:prstGeom>
          <a:ln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5A92B2-3604-61AD-FEF1-4A3F5017C6F4}"/>
              </a:ext>
            </a:extLst>
          </p:cNvPr>
          <p:cNvSpPr txBox="1"/>
          <p:nvPr/>
        </p:nvSpPr>
        <p:spPr>
          <a:xfrm>
            <a:off x="16666095" y="1580930"/>
            <a:ext cx="3038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Starting population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61084-2352-A366-54B1-9B6051F1D6B5}"/>
              </a:ext>
            </a:extLst>
          </p:cNvPr>
          <p:cNvSpPr txBox="1"/>
          <p:nvPr/>
        </p:nvSpPr>
        <p:spPr>
          <a:xfrm>
            <a:off x="17331294" y="28271836"/>
            <a:ext cx="234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End population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0AE51-9D74-EC88-0727-B6D1B6507121}"/>
              </a:ext>
            </a:extLst>
          </p:cNvPr>
          <p:cNvSpPr txBox="1"/>
          <p:nvPr/>
        </p:nvSpPr>
        <p:spPr>
          <a:xfrm>
            <a:off x="17102593" y="15569915"/>
            <a:ext cx="234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Dead individual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4EAAD-58E4-F11B-6A06-5DFC58B4D5E1}"/>
              </a:ext>
            </a:extLst>
          </p:cNvPr>
          <p:cNvSpPr txBox="1"/>
          <p:nvPr/>
        </p:nvSpPr>
        <p:spPr>
          <a:xfrm>
            <a:off x="16433850" y="3187711"/>
            <a:ext cx="3522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Disturbance – </a:t>
            </a:r>
            <a:r>
              <a:rPr lang="en-AU" dirty="0" err="1">
                <a:solidFill>
                  <a:srgbClr val="C00000"/>
                </a:solidFill>
              </a:rPr>
              <a:t>disturbance_event_chance.R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AC4D9-1B6D-F94E-6F78-4A35A0E6280A}"/>
              </a:ext>
            </a:extLst>
          </p:cNvPr>
          <p:cNvSpPr txBox="1"/>
          <p:nvPr/>
        </p:nvSpPr>
        <p:spPr>
          <a:xfrm>
            <a:off x="16526188" y="4976915"/>
            <a:ext cx="3338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Recruited individual list - </a:t>
            </a:r>
          </a:p>
          <a:p>
            <a:pPr algn="ctr"/>
            <a:r>
              <a:rPr lang="en-AU" dirty="0">
                <a:solidFill>
                  <a:srgbClr val="C00000"/>
                </a:solidFill>
              </a:rPr>
              <a:t>recruitment_functions_3.R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191CD-66B5-50CD-4DB4-A231D9B539F5}"/>
              </a:ext>
            </a:extLst>
          </p:cNvPr>
          <p:cNvSpPr txBox="1"/>
          <p:nvPr/>
        </p:nvSpPr>
        <p:spPr>
          <a:xfrm>
            <a:off x="23421668" y="1298688"/>
            <a:ext cx="4137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Does a disturbance occur?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7A5C78-8859-6AB0-8E35-4C2214B2E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2889" y="0"/>
            <a:ext cx="2030198" cy="29359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ADB8FA-EC69-0B34-8D3A-E8B648C2988E}"/>
              </a:ext>
            </a:extLst>
          </p:cNvPr>
          <p:cNvSpPr txBox="1"/>
          <p:nvPr/>
        </p:nvSpPr>
        <p:spPr>
          <a:xfrm>
            <a:off x="25229201" y="3330920"/>
            <a:ext cx="43887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err="1"/>
              <a:t>disturbance_size</a:t>
            </a:r>
            <a:r>
              <a:rPr lang="en-AU" sz="1600" dirty="0"/>
              <a:t> &lt;- 1-disturbance_size_chance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74667B-4844-A220-AD32-5B8041620D31}"/>
              </a:ext>
            </a:extLst>
          </p:cNvPr>
          <p:cNvSpPr txBox="1"/>
          <p:nvPr/>
        </p:nvSpPr>
        <p:spPr>
          <a:xfrm>
            <a:off x="27025014" y="3992638"/>
            <a:ext cx="2509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Disturbance shifts by age?</a:t>
            </a:r>
            <a:endParaRPr lang="en-AU" sz="1600" dirty="0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BC0E2F4-EB57-A770-FAE3-CAC84A519CCF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19956530" y="1467965"/>
            <a:ext cx="3465138" cy="2042910"/>
          </a:xfrm>
          <a:prstGeom prst="curvedConnector3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A6A0749-ED6A-FF27-EF44-3B98BC9E23BD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23970290" y="2241286"/>
            <a:ext cx="1781130" cy="736692"/>
          </a:xfrm>
          <a:prstGeom prst="curvedConnector2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C4E77146-4D57-F178-A58F-37FCB5126B4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rot="16200000" flipH="1">
            <a:off x="27690051" y="3403008"/>
            <a:ext cx="323164" cy="856099"/>
          </a:xfrm>
          <a:prstGeom prst="curvedConnector3">
            <a:avLst>
              <a:gd name="adj1" fmla="val 50000"/>
            </a:avLst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BDEB09-B7B7-424B-183F-7FFAF711A557}"/>
              </a:ext>
            </a:extLst>
          </p:cNvPr>
          <p:cNvSpPr txBox="1"/>
          <p:nvPr/>
        </p:nvSpPr>
        <p:spPr>
          <a:xfrm>
            <a:off x="24136506" y="5112037"/>
            <a:ext cx="4055151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Calculates age differential impact (higher for seedlings) – 0-1 score</a:t>
            </a:r>
          </a:p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Changes age, MR and recruitment score by this (1+dist val)</a:t>
            </a:r>
            <a:endParaRPr lang="en-A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F446F3-9F14-F1BD-88D2-6E5597E0AC4E}"/>
              </a:ext>
            </a:extLst>
          </p:cNvPr>
          <p:cNvSpPr txBox="1"/>
          <p:nvPr/>
        </p:nvSpPr>
        <p:spPr>
          <a:xfrm>
            <a:off x="28530028" y="5112037"/>
            <a:ext cx="4055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Changes age, MR and recruitment score by a flat (1+dist val)</a:t>
            </a:r>
            <a:endParaRPr lang="en-A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4CA39FE4-EF50-327D-74C2-B75EF0C50677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rot="5400000">
            <a:off x="26831462" y="3663814"/>
            <a:ext cx="780845" cy="2115603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B076AA9-FB67-16E7-9FFB-174763848E6D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 rot="16200000" flipH="1">
            <a:off x="29028221" y="3582655"/>
            <a:ext cx="780844" cy="2277919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15B49E-2E67-C07C-2A1B-13C89BCE44E9}"/>
              </a:ext>
            </a:extLst>
          </p:cNvPr>
          <p:cNvSpPr txBox="1"/>
          <p:nvPr/>
        </p:nvSpPr>
        <p:spPr>
          <a:xfrm>
            <a:off x="26272952" y="4398550"/>
            <a:ext cx="865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‘Complex’</a:t>
            </a:r>
            <a:endParaRPr lang="en-AU" sz="12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542888-7BBE-6F52-584B-9A7AF8EC86FC}"/>
              </a:ext>
            </a:extLst>
          </p:cNvPr>
          <p:cNvSpPr txBox="1"/>
          <p:nvPr/>
        </p:nvSpPr>
        <p:spPr>
          <a:xfrm>
            <a:off x="29316629" y="4369368"/>
            <a:ext cx="518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‘Flat’</a:t>
            </a:r>
            <a:endParaRPr lang="en-AU" sz="1200" i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5B4456-94AE-4846-40A5-EFBA723A292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8185261" y="1950264"/>
            <a:ext cx="9931" cy="123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F09836F-97A3-229E-9C92-4EBD83CD4AB5}"/>
              </a:ext>
            </a:extLst>
          </p:cNvPr>
          <p:cNvSpPr txBox="1"/>
          <p:nvPr/>
        </p:nvSpPr>
        <p:spPr>
          <a:xfrm>
            <a:off x="22919757" y="4141698"/>
            <a:ext cx="219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No change to pre-set values</a:t>
            </a:r>
            <a:endParaRPr lang="en-A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E07D5378-51E9-9C52-6F20-626BDC75ADFE}"/>
              </a:ext>
            </a:extLst>
          </p:cNvPr>
          <p:cNvCxnSpPr>
            <a:cxnSpLocks/>
            <a:endCxn id="25" idx="0"/>
          </p:cNvCxnSpPr>
          <p:nvPr/>
        </p:nvCxnSpPr>
        <p:spPr>
          <a:xfrm rot="5400000">
            <a:off x="23142931" y="2775997"/>
            <a:ext cx="2237952" cy="493448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64CFCE47-FBE6-A854-3952-AA6B26A54E30}"/>
              </a:ext>
            </a:extLst>
          </p:cNvPr>
          <p:cNvCxnSpPr>
            <a:cxnSpLocks/>
            <a:endCxn id="8" idx="2"/>
          </p:cNvCxnSpPr>
          <p:nvPr/>
        </p:nvCxnSpPr>
        <p:spPr>
          <a:xfrm rot="10800000">
            <a:off x="18195190" y="3834040"/>
            <a:ext cx="5080488" cy="7497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638991C-B193-0E73-FE2A-3DDEE7F668C4}"/>
              </a:ext>
            </a:extLst>
          </p:cNvPr>
          <p:cNvSpPr txBox="1"/>
          <p:nvPr/>
        </p:nvSpPr>
        <p:spPr>
          <a:xfrm>
            <a:off x="9083640" y="7182553"/>
            <a:ext cx="2637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Density recruitment toggle – if so, changes recruitment constant based on pop size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EB0F75-8269-8801-A3EC-ED21757D3556}"/>
              </a:ext>
            </a:extLst>
          </p:cNvPr>
          <p:cNvSpPr txBox="1"/>
          <p:nvPr/>
        </p:nvSpPr>
        <p:spPr>
          <a:xfrm>
            <a:off x="11146101" y="6367079"/>
            <a:ext cx="312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If population &lt; minimum pop size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7A5A56-969D-5AF8-83B5-54F623DB3373}"/>
              </a:ext>
            </a:extLst>
          </p:cNvPr>
          <p:cNvSpPr txBox="1"/>
          <p:nvPr/>
        </p:nvSpPr>
        <p:spPr>
          <a:xfrm>
            <a:off x="15937861" y="8372609"/>
            <a:ext cx="4523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Calculate number of fecund individuals and </a:t>
            </a:r>
            <a:br>
              <a:rPr lang="en-AU" sz="1600" dirty="0"/>
            </a:br>
            <a:r>
              <a:rPr lang="en-AU" sz="1600" dirty="0"/>
              <a:t>their chance of recruitment given age + MR status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D67E1F-F9A9-9B2F-1EC0-CE707E917472}"/>
              </a:ext>
            </a:extLst>
          </p:cNvPr>
          <p:cNvSpPr txBox="1"/>
          <p:nvPr/>
        </p:nvSpPr>
        <p:spPr>
          <a:xfrm>
            <a:off x="15757010" y="10033695"/>
            <a:ext cx="4885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If they recruit calculate how many seedlings recruited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FCC3DE-6323-516F-F2E4-95C7EEF734D6}"/>
              </a:ext>
            </a:extLst>
          </p:cNvPr>
          <p:cNvSpPr txBox="1"/>
          <p:nvPr/>
        </p:nvSpPr>
        <p:spPr>
          <a:xfrm>
            <a:off x="14476391" y="11341868"/>
            <a:ext cx="74177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For each recruited individual calculate MR status depending on parent’s MR status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0CBA8F8-39C0-4A9C-0121-4C849A059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5059" y="11309547"/>
            <a:ext cx="2152706" cy="12946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C42A66B-2CD0-CF39-4A21-D0D2DA160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8231" y="11299671"/>
            <a:ext cx="1880947" cy="12252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DCDA775-5D6D-DC14-5451-8DF198BD5194}"/>
              </a:ext>
            </a:extLst>
          </p:cNvPr>
          <p:cNvSpPr txBox="1"/>
          <p:nvPr/>
        </p:nvSpPr>
        <p:spPr>
          <a:xfrm>
            <a:off x="15839068" y="12725917"/>
            <a:ext cx="4723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Append to ‘recruited population’ give all individuals </a:t>
            </a:r>
            <a:br>
              <a:rPr lang="en-AU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a mortality of 0 for time point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B07991-60A5-A383-B46E-FC9F6C9E51AD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>
            <a:off x="18195190" y="5623246"/>
            <a:ext cx="6433" cy="81243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5F818341-350E-F79C-E1BC-B2F89D898E87}"/>
              </a:ext>
            </a:extLst>
          </p:cNvPr>
          <p:cNvCxnSpPr>
            <a:cxnSpLocks/>
            <a:stCxn id="29" idx="3"/>
            <a:endCxn id="45" idx="1"/>
          </p:cNvCxnSpPr>
          <p:nvPr/>
        </p:nvCxnSpPr>
        <p:spPr>
          <a:xfrm>
            <a:off x="14267405" y="6536356"/>
            <a:ext cx="3253498" cy="314826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89C56BE-61BB-53E2-58FF-DD93DA0F0972}"/>
              </a:ext>
            </a:extLst>
          </p:cNvPr>
          <p:cNvSpPr txBox="1"/>
          <p:nvPr/>
        </p:nvSpPr>
        <p:spPr>
          <a:xfrm>
            <a:off x="9702270" y="5766071"/>
            <a:ext cx="2506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Recruitment constant x 10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A4A3C7-5917-4CA9-7511-759CFBA66EE3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11014310" y="6204984"/>
            <a:ext cx="131791" cy="3313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B648E111-B3D4-54BE-C80F-83E09693F81D}"/>
              </a:ext>
            </a:extLst>
          </p:cNvPr>
          <p:cNvCxnSpPr>
            <a:cxnSpLocks/>
            <a:stCxn id="28" idx="3"/>
            <a:endCxn id="45" idx="1"/>
          </p:cNvCxnSpPr>
          <p:nvPr/>
        </p:nvCxnSpPr>
        <p:spPr>
          <a:xfrm flipV="1">
            <a:off x="11721456" y="6851182"/>
            <a:ext cx="5799447" cy="746870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0DDAA29-7517-6B9B-3BC0-66C0A6A3E676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8199601" y="8957384"/>
            <a:ext cx="0" cy="101192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EE8BFC2-A449-D381-ADF5-8F4F3FFD451E}"/>
              </a:ext>
            </a:extLst>
          </p:cNvPr>
          <p:cNvCxnSpPr>
            <a:cxnSpLocks/>
            <a:stCxn id="31" idx="3"/>
            <a:endCxn id="43" idx="1"/>
          </p:cNvCxnSpPr>
          <p:nvPr/>
        </p:nvCxnSpPr>
        <p:spPr>
          <a:xfrm>
            <a:off x="20642193" y="10202972"/>
            <a:ext cx="978557" cy="512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B987F90-BAED-0774-41A1-DF7B68FEE859}"/>
              </a:ext>
            </a:extLst>
          </p:cNvPr>
          <p:cNvSpPr txBox="1"/>
          <p:nvPr/>
        </p:nvSpPr>
        <p:spPr>
          <a:xfrm>
            <a:off x="21620750" y="10038823"/>
            <a:ext cx="8314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rnorm</a:t>
            </a:r>
            <a:r>
              <a:rPr lang="en-US" sz="1600" dirty="0"/>
              <a:t>(n=sum(</a:t>
            </a:r>
            <a:r>
              <a:rPr lang="en-US" sz="1600" dirty="0" err="1"/>
              <a:t>indiv_recruitment</a:t>
            </a:r>
            <a:r>
              <a:rPr lang="en-US" sz="1600" dirty="0"/>
              <a:t>), mean = </a:t>
            </a:r>
            <a:r>
              <a:rPr lang="en-US" sz="1600" dirty="0" err="1"/>
              <a:t>recruitment_size_mean</a:t>
            </a:r>
            <a:r>
              <a:rPr lang="en-US" sz="1600" dirty="0"/>
              <a:t>, </a:t>
            </a:r>
            <a:r>
              <a:rPr lang="en-US" sz="1600" dirty="0" err="1"/>
              <a:t>sd</a:t>
            </a:r>
            <a:r>
              <a:rPr lang="en-US" sz="1600" dirty="0"/>
              <a:t> = </a:t>
            </a:r>
            <a:r>
              <a:rPr lang="en-US" sz="1600" dirty="0" err="1"/>
              <a:t>recruitment_size_sd</a:t>
            </a:r>
            <a:r>
              <a:rPr lang="en-US" sz="1600" dirty="0"/>
              <a:t>)</a:t>
            </a:r>
            <a:endParaRPr lang="en-AU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ACB74D-DC6B-BBE7-E084-67DF47C6095D}"/>
              </a:ext>
            </a:extLst>
          </p:cNvPr>
          <p:cNvSpPr txBox="1"/>
          <p:nvPr/>
        </p:nvSpPr>
        <p:spPr>
          <a:xfrm>
            <a:off x="21333874" y="8511107"/>
            <a:ext cx="29038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Individuals &gt;= </a:t>
            </a:r>
            <a:r>
              <a:rPr lang="en-US" sz="1600" dirty="0" err="1"/>
              <a:t>recruitment_age</a:t>
            </a:r>
            <a:endParaRPr lang="en-AU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E7B5F2-A7BE-272E-7C7A-A0FE9A2534DA}"/>
              </a:ext>
            </a:extLst>
          </p:cNvPr>
          <p:cNvSpPr txBox="1"/>
          <p:nvPr/>
        </p:nvSpPr>
        <p:spPr>
          <a:xfrm>
            <a:off x="17520903" y="6435683"/>
            <a:ext cx="1361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Adjust recruitment constant?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14C484A-7E64-E4E8-2270-E6C96A09C1F6}"/>
              </a:ext>
            </a:extLst>
          </p:cNvPr>
          <p:cNvCxnSpPr>
            <a:cxnSpLocks/>
            <a:stCxn id="45" idx="2"/>
            <a:endCxn id="30" idx="0"/>
          </p:cNvCxnSpPr>
          <p:nvPr/>
        </p:nvCxnSpPr>
        <p:spPr>
          <a:xfrm flipH="1">
            <a:off x="18199602" y="7266680"/>
            <a:ext cx="2021" cy="110592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B9D7833-4F45-07FA-E2E8-327AE2A7F1A2}"/>
              </a:ext>
            </a:extLst>
          </p:cNvPr>
          <p:cNvCxnSpPr>
            <a:cxnSpLocks/>
            <a:stCxn id="30" idx="3"/>
            <a:endCxn id="44" idx="1"/>
          </p:cNvCxnSpPr>
          <p:nvPr/>
        </p:nvCxnSpPr>
        <p:spPr>
          <a:xfrm>
            <a:off x="20461342" y="8664996"/>
            <a:ext cx="872533" cy="153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C5D9CF-6BC3-067C-F84A-B13942EB5CC8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18185259" y="10372249"/>
            <a:ext cx="0" cy="83731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EE7176F-82A2-09C8-48B4-B7D7A43E6887}"/>
              </a:ext>
            </a:extLst>
          </p:cNvPr>
          <p:cNvSpPr txBox="1"/>
          <p:nvPr/>
        </p:nvSpPr>
        <p:spPr>
          <a:xfrm>
            <a:off x="23392841" y="10798710"/>
            <a:ext cx="54168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rbeta</a:t>
            </a:r>
            <a:r>
              <a:rPr lang="en-US" sz="1600" dirty="0"/>
              <a:t>( shape1=parent_MR+1)^2, shape2=(2- </a:t>
            </a:r>
            <a:r>
              <a:rPr lang="en-US" sz="1600" dirty="0" err="1"/>
              <a:t>parent_MR</a:t>
            </a:r>
            <a:r>
              <a:rPr lang="en-US" sz="1600" dirty="0"/>
              <a:t>)^2)</a:t>
            </a:r>
            <a:endParaRPr lang="en-AU" sz="1600" dirty="0"/>
          </a:p>
          <a:p>
            <a:endParaRPr lang="en-AU" sz="16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C5C192-C66F-B007-5ACB-66466D24598C}"/>
              </a:ext>
            </a:extLst>
          </p:cNvPr>
          <p:cNvCxnSpPr>
            <a:cxnSpLocks/>
          </p:cNvCxnSpPr>
          <p:nvPr/>
        </p:nvCxnSpPr>
        <p:spPr>
          <a:xfrm>
            <a:off x="22080776" y="11558214"/>
            <a:ext cx="955853" cy="52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DFC0A6-304E-AA49-E9C9-5BD091D6D257}"/>
              </a:ext>
            </a:extLst>
          </p:cNvPr>
          <p:cNvCxnSpPr>
            <a:cxnSpLocks/>
          </p:cNvCxnSpPr>
          <p:nvPr/>
        </p:nvCxnSpPr>
        <p:spPr>
          <a:xfrm flipH="1">
            <a:off x="18190897" y="11864534"/>
            <a:ext cx="1" cy="75965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12BA43B-5425-3E9C-ECBE-7450DF8C310F}"/>
              </a:ext>
            </a:extLst>
          </p:cNvPr>
          <p:cNvSpPr txBox="1"/>
          <p:nvPr/>
        </p:nvSpPr>
        <p:spPr>
          <a:xfrm>
            <a:off x="14994874" y="16780799"/>
            <a:ext cx="2346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If MR mortality is </a:t>
            </a:r>
            <a:r>
              <a:rPr lang="en-AU" b="1" dirty="0">
                <a:solidFill>
                  <a:srgbClr val="C00000"/>
                </a:solidFill>
              </a:rPr>
              <a:t>introduced late </a:t>
            </a:r>
            <a:r>
              <a:rPr lang="en-AU" dirty="0">
                <a:solidFill>
                  <a:srgbClr val="C00000"/>
                </a:solidFill>
              </a:rPr>
              <a:t>&amp; the time point is </a:t>
            </a:r>
            <a:r>
              <a:rPr lang="en-AU" b="1" dirty="0">
                <a:solidFill>
                  <a:srgbClr val="C00000"/>
                </a:solidFill>
              </a:rPr>
              <a:t>after</a:t>
            </a:r>
            <a:r>
              <a:rPr lang="en-AU" dirty="0">
                <a:solidFill>
                  <a:srgbClr val="C00000"/>
                </a:solidFill>
              </a:rPr>
              <a:t> the introduction time - </a:t>
            </a:r>
            <a:r>
              <a:rPr lang="en-AU" dirty="0" err="1">
                <a:solidFill>
                  <a:srgbClr val="C00000"/>
                </a:solidFill>
              </a:rPr>
              <a:t>mortality_functions_MRintro_hill.R</a:t>
            </a:r>
            <a:endParaRPr lang="en-AU" dirty="0">
              <a:solidFill>
                <a:srgbClr val="C0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E3544C-4E62-CAD9-B447-E45181872539}"/>
              </a:ext>
            </a:extLst>
          </p:cNvPr>
          <p:cNvSpPr txBox="1"/>
          <p:nvPr/>
        </p:nvSpPr>
        <p:spPr>
          <a:xfrm>
            <a:off x="18597844" y="16780798"/>
            <a:ext cx="3009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If MR mortality is </a:t>
            </a:r>
            <a:r>
              <a:rPr lang="en-AU" b="1" dirty="0">
                <a:solidFill>
                  <a:srgbClr val="C00000"/>
                </a:solidFill>
              </a:rPr>
              <a:t>constant </a:t>
            </a:r>
            <a:r>
              <a:rPr lang="en-AU" dirty="0">
                <a:solidFill>
                  <a:srgbClr val="C00000"/>
                </a:solidFill>
              </a:rPr>
              <a:t>or the time point is </a:t>
            </a:r>
            <a:r>
              <a:rPr lang="en-AU" b="1" dirty="0">
                <a:solidFill>
                  <a:srgbClr val="C00000"/>
                </a:solidFill>
              </a:rPr>
              <a:t>before</a:t>
            </a:r>
            <a:r>
              <a:rPr lang="en-AU" dirty="0">
                <a:solidFill>
                  <a:srgbClr val="C00000"/>
                </a:solidFill>
              </a:rPr>
              <a:t> the MR introduction time - </a:t>
            </a:r>
            <a:r>
              <a:rPr lang="en-AU" dirty="0" err="1">
                <a:solidFill>
                  <a:srgbClr val="C00000"/>
                </a:solidFill>
              </a:rPr>
              <a:t>mortality_functions_hill.R</a:t>
            </a:r>
            <a:endParaRPr lang="en-AU" dirty="0">
              <a:solidFill>
                <a:srgbClr val="C00000"/>
              </a:solidFill>
            </a:endParaRP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C9F3913E-02C9-6845-E901-9EAF3C419D79}"/>
              </a:ext>
            </a:extLst>
          </p:cNvPr>
          <p:cNvCxnSpPr>
            <a:cxnSpLocks/>
            <a:stCxn id="7" idx="2"/>
            <a:endCxn id="54" idx="0"/>
          </p:cNvCxnSpPr>
          <p:nvPr/>
        </p:nvCxnSpPr>
        <p:spPr>
          <a:xfrm rot="16200000" flipH="1">
            <a:off x="18768456" y="15446866"/>
            <a:ext cx="841549" cy="1826313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2BC128F3-2235-951A-879D-76BCF2DE7180}"/>
              </a:ext>
            </a:extLst>
          </p:cNvPr>
          <p:cNvCxnSpPr>
            <a:cxnSpLocks/>
            <a:stCxn id="7" idx="2"/>
            <a:endCxn id="53" idx="0"/>
          </p:cNvCxnSpPr>
          <p:nvPr/>
        </p:nvCxnSpPr>
        <p:spPr>
          <a:xfrm rot="5400000">
            <a:off x="16801437" y="15306166"/>
            <a:ext cx="841552" cy="2107719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3C12FA3-BB1F-CA47-55D3-49BBBFDF8036}"/>
              </a:ext>
            </a:extLst>
          </p:cNvPr>
          <p:cNvSpPr txBox="1"/>
          <p:nvPr/>
        </p:nvSpPr>
        <p:spPr>
          <a:xfrm>
            <a:off x="17389374" y="21780289"/>
            <a:ext cx="2234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Calculate age mortality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12CD26-25A0-49C6-38BB-5B9A6BE7CB51}"/>
              </a:ext>
            </a:extLst>
          </p:cNvPr>
          <p:cNvSpPr txBox="1"/>
          <p:nvPr/>
        </p:nvSpPr>
        <p:spPr>
          <a:xfrm>
            <a:off x="10546959" y="21531903"/>
            <a:ext cx="3913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Two hill equation with varying direction + steepness depending that changes at  </a:t>
            </a:r>
            <a:r>
              <a:rPr lang="en-AU" sz="1600" dirty="0" err="1"/>
              <a:t>mortality_age_shiftch</a:t>
            </a:r>
            <a:endParaRPr lang="en-AU" sz="16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1CF71F5-C89B-360E-4782-10D58D06E020}"/>
              </a:ext>
            </a:extLst>
          </p:cNvPr>
          <p:cNvCxnSpPr>
            <a:cxnSpLocks/>
            <a:stCxn id="57" idx="1"/>
            <a:endCxn id="58" idx="3"/>
          </p:cNvCxnSpPr>
          <p:nvPr/>
        </p:nvCxnSpPr>
        <p:spPr>
          <a:xfrm flipH="1" flipV="1">
            <a:off x="14459993" y="21947400"/>
            <a:ext cx="2929383" cy="21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4535055-E02D-EF1D-BBB9-F7A4AE0953E0}"/>
              </a:ext>
            </a:extLst>
          </p:cNvPr>
          <p:cNvSpPr txBox="1"/>
          <p:nvPr/>
        </p:nvSpPr>
        <p:spPr>
          <a:xfrm>
            <a:off x="16618527" y="14367954"/>
            <a:ext cx="333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rgbClr val="C00000"/>
                </a:solidFill>
              </a:rPr>
              <a:t>Add intervention individuals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76D73B-47FE-9823-353E-ED1EDFAFA48B}"/>
              </a:ext>
            </a:extLst>
          </p:cNvPr>
          <p:cNvSpPr txBox="1"/>
          <p:nvPr/>
        </p:nvSpPr>
        <p:spPr>
          <a:xfrm>
            <a:off x="16666095" y="20523411"/>
            <a:ext cx="3688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Reduce intervention individual’s mortality chance if toggle on</a:t>
            </a:r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733E8A1B-A7B4-72AA-D28B-8EBDD4CFBE05}"/>
              </a:ext>
            </a:extLst>
          </p:cNvPr>
          <p:cNvCxnSpPr>
            <a:cxnSpLocks/>
            <a:stCxn id="60" idx="1"/>
            <a:endCxn id="61" idx="1"/>
          </p:cNvCxnSpPr>
          <p:nvPr/>
        </p:nvCxnSpPr>
        <p:spPr>
          <a:xfrm rot="10800000" flipH="1" flipV="1">
            <a:off x="16618527" y="14552619"/>
            <a:ext cx="47568" cy="6263179"/>
          </a:xfrm>
          <a:prstGeom prst="curvedConnector3">
            <a:avLst>
              <a:gd name="adj1" fmla="val -4406975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675AE9F-20FA-B40B-8A63-815F51A5A5F8}"/>
              </a:ext>
            </a:extLst>
          </p:cNvPr>
          <p:cNvSpPr txBox="1"/>
          <p:nvPr/>
        </p:nvSpPr>
        <p:spPr>
          <a:xfrm>
            <a:off x="17044982" y="23198141"/>
            <a:ext cx="292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Age x MR interaction toggle on?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4F901F-7CCE-C7F8-F3D3-87B2267A4FC6}"/>
              </a:ext>
            </a:extLst>
          </p:cNvPr>
          <p:cNvSpPr txBox="1"/>
          <p:nvPr/>
        </p:nvSpPr>
        <p:spPr>
          <a:xfrm>
            <a:off x="7106652" y="23226363"/>
            <a:ext cx="73533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 err="1"/>
              <a:t>MR_chance</a:t>
            </a:r>
            <a:r>
              <a:rPr lang="en-AU" sz="1600" dirty="0"/>
              <a:t> &lt;- (1 / (1 + (ages / </a:t>
            </a:r>
            <a:r>
              <a:rPr lang="en-AU" sz="1600" dirty="0" err="1"/>
              <a:t>MR_age_impact_val</a:t>
            </a:r>
            <a:r>
              <a:rPr lang="en-AU" sz="1600" dirty="0"/>
              <a:t>))) * MR * </a:t>
            </a:r>
            <a:r>
              <a:rPr lang="en-AU" sz="1600" dirty="0" err="1"/>
              <a:t>MR_death_impact_val</a:t>
            </a:r>
            <a:endParaRPr lang="en-AU" sz="16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56277F9-B909-045B-1DA6-305E70C69E1E}"/>
              </a:ext>
            </a:extLst>
          </p:cNvPr>
          <p:cNvCxnSpPr>
            <a:cxnSpLocks/>
            <a:stCxn id="63" idx="1"/>
            <a:endCxn id="64" idx="3"/>
          </p:cNvCxnSpPr>
          <p:nvPr/>
        </p:nvCxnSpPr>
        <p:spPr>
          <a:xfrm flipH="1">
            <a:off x="14459990" y="23367418"/>
            <a:ext cx="2584990" cy="282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959859A-CBD2-AF95-E79F-0637262E6199}"/>
              </a:ext>
            </a:extLst>
          </p:cNvPr>
          <p:cNvSpPr txBox="1"/>
          <p:nvPr/>
        </p:nvSpPr>
        <p:spPr>
          <a:xfrm>
            <a:off x="16233039" y="25458319"/>
            <a:ext cx="4554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If population is larger than max carrying capacity,:</a:t>
            </a:r>
          </a:p>
          <a:p>
            <a:pPr algn="ctr"/>
            <a:r>
              <a:rPr lang="en-AU" sz="1600" dirty="0"/>
              <a:t>raise minimum chance of mortality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DD0FF7-5FB0-50F2-84C3-86A3F6823339}"/>
              </a:ext>
            </a:extLst>
          </p:cNvPr>
          <p:cNvSpPr txBox="1"/>
          <p:nvPr/>
        </p:nvSpPr>
        <p:spPr>
          <a:xfrm>
            <a:off x="16540294" y="24303397"/>
            <a:ext cx="3928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Calculate final change of mortality using a </a:t>
            </a:r>
            <a:br>
              <a:rPr lang="en-AU" sz="1600" dirty="0"/>
            </a:br>
            <a:r>
              <a:rPr lang="en-AU" sz="1600" dirty="0"/>
              <a:t>conditional probability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CFACC3-5996-1121-05BB-9B47AB50D37F}"/>
              </a:ext>
            </a:extLst>
          </p:cNvPr>
          <p:cNvSpPr txBox="1"/>
          <p:nvPr/>
        </p:nvSpPr>
        <p:spPr>
          <a:xfrm>
            <a:off x="6487459" y="25458319"/>
            <a:ext cx="847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 err="1"/>
              <a:t>comp_chance</a:t>
            </a:r>
            <a:r>
              <a:rPr lang="en-AU" sz="1600" dirty="0"/>
              <a:t> = (</a:t>
            </a:r>
            <a:r>
              <a:rPr lang="en-AU" sz="1600" dirty="0" err="1"/>
              <a:t>pop_size</a:t>
            </a:r>
            <a:r>
              <a:rPr lang="en-AU" sz="1600" dirty="0"/>
              <a:t> - </a:t>
            </a:r>
            <a:r>
              <a:rPr lang="en-AU" sz="1600" dirty="0" err="1"/>
              <a:t>population_capacity</a:t>
            </a:r>
            <a:r>
              <a:rPr lang="en-AU" sz="1600" dirty="0"/>
              <a:t>)/</a:t>
            </a:r>
            <a:r>
              <a:rPr lang="en-AU" sz="1600" dirty="0" err="1"/>
              <a:t>population_capacity</a:t>
            </a:r>
            <a:r>
              <a:rPr lang="en-AU" sz="1600" dirty="0"/>
              <a:t>  * (1+comp_impact_val)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FD51CF-3137-1898-CCE4-9A5124654FFB}"/>
              </a:ext>
            </a:extLst>
          </p:cNvPr>
          <p:cNvSpPr txBox="1"/>
          <p:nvPr/>
        </p:nvSpPr>
        <p:spPr>
          <a:xfrm>
            <a:off x="15574071" y="26698261"/>
            <a:ext cx="5884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Determine weighted chance mortality outcome for all individuals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FB2996-7029-CE9F-750A-445D11910D31}"/>
              </a:ext>
            </a:extLst>
          </p:cNvPr>
          <p:cNvSpPr txBox="1"/>
          <p:nvPr/>
        </p:nvSpPr>
        <p:spPr>
          <a:xfrm>
            <a:off x="16662435" y="19311208"/>
            <a:ext cx="368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Changes MR chance accordingly</a:t>
            </a:r>
            <a:endParaRPr lang="en-AU" sz="16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7B34A11-4C23-20B9-6B34-0993F13E8769}"/>
              </a:ext>
            </a:extLst>
          </p:cNvPr>
          <p:cNvCxnSpPr>
            <a:cxnSpLocks/>
            <a:stCxn id="70" idx="2"/>
            <a:endCxn id="61" idx="0"/>
          </p:cNvCxnSpPr>
          <p:nvPr/>
        </p:nvCxnSpPr>
        <p:spPr>
          <a:xfrm>
            <a:off x="18506668" y="19649764"/>
            <a:ext cx="3660" cy="87364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4B200BF-0DA8-A1AD-EADC-A78ADBE60A25}"/>
              </a:ext>
            </a:extLst>
          </p:cNvPr>
          <p:cNvCxnSpPr>
            <a:cxnSpLocks/>
            <a:stCxn id="61" idx="2"/>
            <a:endCxn id="57" idx="0"/>
          </p:cNvCxnSpPr>
          <p:nvPr/>
        </p:nvCxnSpPr>
        <p:spPr>
          <a:xfrm flipH="1">
            <a:off x="18506669" y="21108186"/>
            <a:ext cx="3661" cy="672105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D69184C-45A2-79DB-79AC-F7944BEAAC87}"/>
              </a:ext>
            </a:extLst>
          </p:cNvPr>
          <p:cNvCxnSpPr>
            <a:cxnSpLocks/>
            <a:stCxn id="57" idx="2"/>
            <a:endCxn id="63" idx="0"/>
          </p:cNvCxnSpPr>
          <p:nvPr/>
        </p:nvCxnSpPr>
        <p:spPr>
          <a:xfrm flipH="1">
            <a:off x="18506184" y="22118843"/>
            <a:ext cx="485" cy="107929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ABBA660-A9C8-A5D4-CEC5-2B89BC734AAF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18504775" y="23536695"/>
            <a:ext cx="1409" cy="76670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B9586D8-B791-DB22-EB47-A009D3C959DD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18504773" y="24888172"/>
            <a:ext cx="5332" cy="570147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0D98C92-6F01-1449-B3BC-3E486DF2A213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18510105" y="26043094"/>
            <a:ext cx="6180" cy="65516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2684193-9001-D075-4486-9DE23075001B}"/>
              </a:ext>
            </a:extLst>
          </p:cNvPr>
          <p:cNvCxnSpPr>
            <a:cxnSpLocks/>
          </p:cNvCxnSpPr>
          <p:nvPr/>
        </p:nvCxnSpPr>
        <p:spPr>
          <a:xfrm flipH="1" flipV="1">
            <a:off x="15204294" y="25626302"/>
            <a:ext cx="897119" cy="12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E362E05-B980-9D49-D24D-3EC1EAB10ED4}"/>
              </a:ext>
            </a:extLst>
          </p:cNvPr>
          <p:cNvSpPr txBox="1"/>
          <p:nvPr/>
        </p:nvSpPr>
        <p:spPr>
          <a:xfrm>
            <a:off x="20791309" y="14269540"/>
            <a:ext cx="5205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User set number of individuals and time point introduced</a:t>
            </a:r>
          </a:p>
          <a:p>
            <a:r>
              <a:rPr lang="en-GB" sz="1600" dirty="0"/>
              <a:t>MR determined by </a:t>
            </a:r>
            <a:r>
              <a:rPr lang="en-GB" sz="1600" dirty="0" err="1"/>
              <a:t>rnorm</a:t>
            </a:r>
            <a:r>
              <a:rPr lang="en-GB" sz="1600" dirty="0"/>
              <a:t> using pre-set mean and SD</a:t>
            </a:r>
            <a:endParaRPr lang="en-AU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2DAAA69-9D7F-6FCA-BC38-4CADFFDF299F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8200612" y="13310692"/>
            <a:ext cx="0" cy="91063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0B99595-3AC5-8F2C-575A-38CE9562E300}"/>
              </a:ext>
            </a:extLst>
          </p:cNvPr>
          <p:cNvCxnSpPr>
            <a:cxnSpLocks/>
            <a:stCxn id="60" idx="3"/>
            <a:endCxn id="78" idx="1"/>
          </p:cNvCxnSpPr>
          <p:nvPr/>
        </p:nvCxnSpPr>
        <p:spPr>
          <a:xfrm>
            <a:off x="19956529" y="14552621"/>
            <a:ext cx="834780" cy="930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DCDCB71A-2166-CD24-261A-76590368B76D}"/>
              </a:ext>
            </a:extLst>
          </p:cNvPr>
          <p:cNvCxnSpPr>
            <a:cxnSpLocks/>
            <a:stCxn id="53" idx="2"/>
            <a:endCxn id="70" idx="0"/>
          </p:cNvCxnSpPr>
          <p:nvPr/>
        </p:nvCxnSpPr>
        <p:spPr>
          <a:xfrm rot="16200000" flipH="1">
            <a:off x="16949471" y="17754010"/>
            <a:ext cx="776083" cy="2338315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D9140F30-D580-2045-BB9F-3783ED07A87F}"/>
              </a:ext>
            </a:extLst>
          </p:cNvPr>
          <p:cNvCxnSpPr>
            <a:cxnSpLocks/>
            <a:stCxn id="54" idx="2"/>
            <a:endCxn id="70" idx="0"/>
          </p:cNvCxnSpPr>
          <p:nvPr/>
        </p:nvCxnSpPr>
        <p:spPr>
          <a:xfrm rot="5400000">
            <a:off x="18639488" y="17848310"/>
            <a:ext cx="1330083" cy="1595717"/>
          </a:xfrm>
          <a:prstGeom prst="curvedConnector3">
            <a:avLst>
              <a:gd name="adj1" fmla="val 50000"/>
            </a:avLst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CFC4C46-CE58-4ACE-839A-02B6717036E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8501182" y="27009068"/>
            <a:ext cx="3593" cy="1262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5EB2FDC-7C23-B776-45D0-5BFEAA07550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8195190" y="3834042"/>
            <a:ext cx="0" cy="114287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7E38BAD-0FF0-DF34-77AA-55EA7A646B93}"/>
              </a:ext>
            </a:extLst>
          </p:cNvPr>
          <p:cNvCxnSpPr>
            <a:cxnSpLocks/>
          </p:cNvCxnSpPr>
          <p:nvPr/>
        </p:nvCxnSpPr>
        <p:spPr>
          <a:xfrm>
            <a:off x="18201623" y="14737286"/>
            <a:ext cx="0" cy="910634"/>
          </a:xfrm>
          <a:prstGeom prst="straightConnector1">
            <a:avLst/>
          </a:prstGeom>
          <a:ln w="57150">
            <a:solidFill>
              <a:srgbClr val="9900FF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7" name="Picture 136" descr="A screenshot of a graph&#10;&#10;AI-generated content may be incorrect.">
            <a:extLst>
              <a:ext uri="{FF2B5EF4-FFF2-40B4-BE49-F238E27FC236}">
                <a16:creationId xmlns:a16="http://schemas.microsoft.com/office/drawing/2014/main" id="{047AE18C-4D77-3C2C-0183-D07734F4A1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1174" y="6875313"/>
            <a:ext cx="2734114" cy="2952843"/>
          </a:xfrm>
          <a:prstGeom prst="rect">
            <a:avLst/>
          </a:prstGeom>
        </p:spPr>
      </p:pic>
      <p:pic>
        <p:nvPicPr>
          <p:cNvPr id="143" name="Picture 142" descr="A screenshot of a graph&#10;&#10;AI-generated content may be incorrect.">
            <a:extLst>
              <a:ext uri="{FF2B5EF4-FFF2-40B4-BE49-F238E27FC236}">
                <a16:creationId xmlns:a16="http://schemas.microsoft.com/office/drawing/2014/main" id="{7D19A42E-6B9F-7061-ADC5-816FDEF9E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586" y="21395220"/>
            <a:ext cx="3600000" cy="38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7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883</Words>
  <Application>Microsoft Office PowerPoint</Application>
  <PresentationFormat>Custom</PresentationFormat>
  <Paragraphs>91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Karina Guo</dc:creator>
  <cp:lastModifiedBy>Karina Guo</cp:lastModifiedBy>
  <cp:revision>5</cp:revision>
  <dcterms:created xsi:type="dcterms:W3CDTF">2025-09-04T23:08:58Z</dcterms:created>
  <dcterms:modified xsi:type="dcterms:W3CDTF">2025-10-29T04:08:07Z</dcterms:modified>
</cp:coreProperties>
</file>